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2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y="6858000" cx="12192000"/>
  <p:notesSz cx="6858000" cy="9144000"/>
  <p:embeddedFontLst>
    <p:embeddedFont>
      <p:font typeface="Fira Code"/>
      <p:regular r:id="rId18"/>
      <p:bold r:id="rId19"/>
    </p:embeddedFont>
    <p:embeddedFont>
      <p:font typeface="Vazirmatn"/>
      <p:regular r:id="rId20"/>
      <p:bold r:id="rId2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Vazirmatn-regular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21" Type="http://schemas.openxmlformats.org/officeDocument/2006/relationships/font" Target="fonts/Vazirmatn-bold.fnt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font" Target="fonts/FiraCode-bold.fntdata"/><Relationship Id="rId6" Type="http://schemas.openxmlformats.org/officeDocument/2006/relationships/slide" Target="slides/slide1.xml"/><Relationship Id="rId18" Type="http://schemas.openxmlformats.org/officeDocument/2006/relationships/font" Target="fonts/FiraCode-regular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7" name="Google Shape;287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" name="Google Shape;307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png"/><Relationship Id="rId4" Type="http://schemas.openxmlformats.org/officeDocument/2006/relationships/image" Target="../media/image11.png"/><Relationship Id="rId5" Type="http://schemas.openxmlformats.org/officeDocument/2006/relationships/image" Target="../media/image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9.png"/><Relationship Id="rId4" Type="http://schemas.openxmlformats.org/officeDocument/2006/relationships/image" Target="../media/image9.png"/><Relationship Id="rId5" Type="http://schemas.openxmlformats.org/officeDocument/2006/relationships/image" Target="../media/image12.png"/><Relationship Id="rId6" Type="http://schemas.openxmlformats.org/officeDocument/2006/relationships/image" Target="../media/image2.png"/><Relationship Id="rId7" Type="http://schemas.openxmlformats.org/officeDocument/2006/relationships/image" Target="../media/image1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0.png"/><Relationship Id="rId4" Type="http://schemas.openxmlformats.org/officeDocument/2006/relationships/image" Target="../media/image5.png"/><Relationship Id="rId5" Type="http://schemas.openxmlformats.org/officeDocument/2006/relationships/image" Target="../media/image16.png"/><Relationship Id="rId6" Type="http://schemas.openxmlformats.org/officeDocument/2006/relationships/image" Target="../media/image14.png"/><Relationship Id="rId7" Type="http://schemas.openxmlformats.org/officeDocument/2006/relationships/image" Target="../media/image3.png"/><Relationship Id="rId8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15.png"/><Relationship Id="rId5" Type="http://schemas.openxmlformats.org/officeDocument/2006/relationships/image" Target="../media/image1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A440">
            <a:alpha val="10220"/>
          </a:srgbClr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10972800" y="1280219"/>
            <a:ext cx="609600" cy="381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3"/>
          <p:cNvSpPr txBox="1"/>
          <p:nvPr/>
        </p:nvSpPr>
        <p:spPr>
          <a:xfrm>
            <a:off x="514350" y="865601"/>
            <a:ext cx="110682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chemeClr val="dk1"/>
                </a:solidFill>
                <a:latin typeface="Vazirmatn"/>
                <a:ea typeface="Vazirmatn"/>
                <a:cs typeface="Vazirmatn"/>
                <a:sym typeface="Vazirmatn"/>
              </a:rPr>
              <a:t>دانشگاه صنعتی امیرکبیر، دانشکده مهندسی کامپیوتر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1481137" y="1614154"/>
            <a:ext cx="10101300" cy="199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chemeClr val="dk1"/>
                </a:solidFill>
                <a:latin typeface="Vazirmatn"/>
                <a:ea typeface="Vazirmatn"/>
                <a:cs typeface="Vazirmatn"/>
                <a:sym typeface="Vazirmatn"/>
              </a:rPr>
              <a:t>ترکیب تحلیل ساختاری کد با استدلال مدل‌های زبانی بزرگ و معماری چندعامله برای کاهش هشدارهای کاذب </a:t>
            </a:r>
            <a:r>
              <a:rPr b="1" lang="en-US" sz="3600">
                <a:solidFill>
                  <a:schemeClr val="dk1"/>
                </a:solidFill>
                <a:latin typeface="Vazirmatn"/>
                <a:ea typeface="Vazirmatn"/>
                <a:cs typeface="Vazirmatn"/>
                <a:sym typeface="Vazirmatn"/>
              </a:rPr>
              <a:t>در تحلیل آسیب‌پذیری کد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7562850" y="4542006"/>
            <a:ext cx="34671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B45F06"/>
                </a:solidFill>
                <a:latin typeface="Vazirmatn"/>
                <a:ea typeface="Vazirmatn"/>
                <a:cs typeface="Vazirmatn"/>
                <a:sym typeface="Vazirmatn"/>
              </a:rPr>
              <a:t>نگارنده:</a:t>
            </a:r>
            <a:r>
              <a:rPr b="0" i="0" lang="en-US" sz="1500" u="none" cap="none" strike="noStrike">
                <a:solidFill>
                  <a:schemeClr val="dk1"/>
                </a:solidFill>
                <a:latin typeface="Vazirmatn"/>
                <a:ea typeface="Vazirmatn"/>
                <a:cs typeface="Vazirmatn"/>
                <a:sym typeface="Vazirmatn"/>
              </a:rPr>
              <a:t> علی ناصری‌نیا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88" name="Google Shape;88;p13"/>
          <p:cNvSpPr txBox="1"/>
          <p:nvPr/>
        </p:nvSpPr>
        <p:spPr>
          <a:xfrm>
            <a:off x="7562850" y="5015081"/>
            <a:ext cx="34671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B45F06"/>
                </a:solidFill>
                <a:latin typeface="Vazirmatn"/>
                <a:ea typeface="Vazirmatn"/>
                <a:cs typeface="Vazirmatn"/>
                <a:sym typeface="Vazirmatn"/>
              </a:rPr>
              <a:t>استاد راهنما:</a:t>
            </a:r>
            <a:r>
              <a:rPr b="0" i="0" lang="en-US" sz="1500" u="none" cap="none" strike="noStrike">
                <a:solidFill>
                  <a:schemeClr val="dk1"/>
                </a:solidFill>
                <a:latin typeface="Vazirmatn"/>
                <a:ea typeface="Vazirmatn"/>
                <a:cs typeface="Vazirmatn"/>
                <a:sym typeface="Vazirmatn"/>
              </a:rPr>
              <a:t> دکتر حمیدرضا شهریاری‌کاهکشی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4"/>
          <p:cNvSpPr/>
          <p:nvPr/>
        </p:nvSpPr>
        <p:spPr>
          <a:xfrm>
            <a:off x="11125200" y="1295400"/>
            <a:ext cx="457200" cy="28575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4"/>
          <p:cNvSpPr/>
          <p:nvPr/>
        </p:nvSpPr>
        <p:spPr>
          <a:xfrm>
            <a:off x="8127950" y="2643187"/>
            <a:ext cx="3454449" cy="2895600"/>
          </a:xfrm>
          <a:prstGeom prst="roundRect">
            <a:avLst>
              <a:gd fmla="val 3947" name="adj"/>
            </a:avLst>
          </a:prstGeom>
          <a:solidFill>
            <a:srgbClr val="FFFFFF"/>
          </a:solidFill>
          <a:ln cap="flat" cmpd="sng" w="9525">
            <a:solidFill>
              <a:srgbClr val="EA99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4"/>
          <p:cNvSpPr/>
          <p:nvPr/>
        </p:nvSpPr>
        <p:spPr>
          <a:xfrm>
            <a:off x="4368700" y="2662237"/>
            <a:ext cx="3454449" cy="2857500"/>
          </a:xfrm>
          <a:prstGeom prst="roundRect">
            <a:avLst>
              <a:gd fmla="val 40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609451" y="2681287"/>
            <a:ext cx="3454449" cy="2819400"/>
          </a:xfrm>
          <a:prstGeom prst="roundRect">
            <a:avLst>
              <a:gd fmla="val 4054" name="adj"/>
            </a:avLst>
          </a:prstGeom>
          <a:solidFill>
            <a:srgbClr val="FFFFFF"/>
          </a:solidFill>
          <a:ln cap="flat" cmpd="sng" w="9525">
            <a:solidFill>
              <a:srgbClr val="E0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4"/>
          <p:cNvSpPr/>
          <p:nvPr/>
        </p:nvSpPr>
        <p:spPr>
          <a:xfrm>
            <a:off x="4368700" y="2662237"/>
            <a:ext cx="3454449" cy="381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98" name="Google Shape;98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744200" y="3024187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9" name="Google Shape;99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984950" y="3081337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0" name="Google Shape;100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225700" y="3062287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4"/>
          <p:cNvSpPr txBox="1"/>
          <p:nvPr/>
        </p:nvSpPr>
        <p:spPr>
          <a:xfrm>
            <a:off x="-39052" y="609600"/>
            <a:ext cx="11621452" cy="5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F172A"/>
                </a:solidFill>
                <a:latin typeface="Vazirmatn"/>
                <a:ea typeface="Vazirmatn"/>
                <a:cs typeface="Vazirmatn"/>
                <a:sym typeface="Vazirmatn"/>
              </a:rPr>
              <a:t>بیان مسئله و چالش‌ها</a:t>
            </a:r>
            <a:endParaRPr/>
          </a:p>
        </p:txBody>
      </p:sp>
      <p:sp>
        <p:nvSpPr>
          <p:cNvPr id="102" name="Google Shape;102;p14"/>
          <p:cNvSpPr txBox="1"/>
          <p:nvPr/>
        </p:nvSpPr>
        <p:spPr>
          <a:xfrm>
            <a:off x="8274315" y="3709987"/>
            <a:ext cx="2927084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F172A"/>
                </a:solidFill>
                <a:latin typeface="Vazirmatn"/>
                <a:ea typeface="Vazirmatn"/>
                <a:cs typeface="Vazirmatn"/>
                <a:sym typeface="Vazirmatn"/>
              </a:rPr>
              <a:t>تحلیل ایستا (Static Analysis)</a:t>
            </a:r>
            <a:endParaRPr/>
          </a:p>
        </p:txBody>
      </p:sp>
      <p:sp>
        <p:nvSpPr>
          <p:cNvPr id="103" name="Google Shape;103;p14"/>
          <p:cNvSpPr txBox="1"/>
          <p:nvPr/>
        </p:nvSpPr>
        <p:spPr>
          <a:xfrm>
            <a:off x="8413700" y="4586287"/>
            <a:ext cx="27876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Vazirmatn"/>
                <a:ea typeface="Vazirmatn"/>
                <a:cs typeface="Vazirmatn"/>
                <a:sym typeface="Vazirmatn"/>
              </a:rPr>
              <a:t>ابزاری پرکاربرد اما مملو از هشدارهای نادرست (False Positives).</a:t>
            </a:r>
            <a:endParaRPr/>
          </a:p>
        </p:txBody>
      </p:sp>
      <p:sp>
        <p:nvSpPr>
          <p:cNvPr id="104" name="Google Shape;104;p14"/>
          <p:cNvSpPr txBox="1"/>
          <p:nvPr/>
        </p:nvSpPr>
        <p:spPr>
          <a:xfrm>
            <a:off x="4515065" y="3767137"/>
            <a:ext cx="2927084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F172A"/>
                </a:solidFill>
                <a:latin typeface="Vazirmatn"/>
                <a:ea typeface="Vazirmatn"/>
                <a:cs typeface="Vazirmatn"/>
                <a:sym typeface="Vazirmatn"/>
              </a:rPr>
              <a:t>پیامد اصلی</a:t>
            </a:r>
            <a:endParaRPr/>
          </a:p>
        </p:txBody>
      </p:sp>
      <p:sp>
        <p:nvSpPr>
          <p:cNvPr id="105" name="Google Shape;105;p14"/>
          <p:cNvSpPr txBox="1"/>
          <p:nvPr/>
        </p:nvSpPr>
        <p:spPr>
          <a:xfrm>
            <a:off x="4654450" y="4281487"/>
            <a:ext cx="27876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Vazirmatn"/>
                <a:ea typeface="Vazirmatn"/>
                <a:cs typeface="Vazirmatn"/>
                <a:sym typeface="Vazirmatn"/>
              </a:rPr>
              <a:t>بروز خستگی توسعه‌دهنده</a:t>
            </a:r>
            <a:endParaRPr b="0" i="0" sz="1500" u="none" cap="none" strike="noStrike">
              <a:solidFill>
                <a:srgbClr val="475569"/>
              </a:solidFill>
              <a:latin typeface="Vazirmatn"/>
              <a:ea typeface="Vazirmatn"/>
              <a:cs typeface="Vazirmatn"/>
              <a:sym typeface="Vazirmatn"/>
            </a:endParaRPr>
          </a:p>
          <a:p>
            <a:pPr indent="0" lvl="0" marL="0" marR="0" rtl="1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Vazirmatn"/>
                <a:ea typeface="Vazirmatn"/>
                <a:cs typeface="Vazirmatn"/>
                <a:sym typeface="Vazirmatn"/>
              </a:rPr>
              <a:t> (Alert Fatigue) و کنار گذاشتن</a:t>
            </a:r>
            <a:endParaRPr b="0" i="0" sz="1500" u="none" cap="none" strike="noStrike">
              <a:solidFill>
                <a:srgbClr val="475569"/>
              </a:solidFill>
              <a:latin typeface="Vazirmatn"/>
              <a:ea typeface="Vazirmatn"/>
              <a:cs typeface="Vazirmatn"/>
              <a:sym typeface="Vazirmatn"/>
            </a:endParaRPr>
          </a:p>
          <a:p>
            <a:pPr indent="0" lvl="0" marL="0" marR="0" rtl="1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Vazirmatn"/>
                <a:ea typeface="Vazirmatn"/>
                <a:cs typeface="Vazirmatn"/>
                <a:sym typeface="Vazirmatn"/>
              </a:rPr>
              <a:t> کامل ابزار امنیتی.</a:t>
            </a:r>
            <a:endParaRPr/>
          </a:p>
        </p:txBody>
      </p:sp>
      <p:sp>
        <p:nvSpPr>
          <p:cNvPr id="106" name="Google Shape;106;p14"/>
          <p:cNvSpPr txBox="1"/>
          <p:nvPr/>
        </p:nvSpPr>
        <p:spPr>
          <a:xfrm>
            <a:off x="755816" y="3748087"/>
            <a:ext cx="2927084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F172A"/>
                </a:solidFill>
                <a:latin typeface="Vazirmatn"/>
                <a:ea typeface="Vazirmatn"/>
                <a:cs typeface="Vazirmatn"/>
                <a:sym typeface="Vazirmatn"/>
              </a:rPr>
              <a:t>راهکار خام و خطرات آن</a:t>
            </a:r>
            <a:endParaRPr/>
          </a:p>
        </p:txBody>
      </p:sp>
      <p:sp>
        <p:nvSpPr>
          <p:cNvPr id="107" name="Google Shape;107;p14"/>
          <p:cNvSpPr txBox="1"/>
          <p:nvPr/>
        </p:nvSpPr>
        <p:spPr>
          <a:xfrm>
            <a:off x="895201" y="4262437"/>
            <a:ext cx="27876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Vazirmatn"/>
                <a:ea typeface="Vazirmatn"/>
                <a:cs typeface="Vazirmatn"/>
                <a:sym typeface="Vazirmatn"/>
              </a:rPr>
              <a:t>استفادهٔ مستقیم از LLM منجر به </a:t>
            </a:r>
            <a:r>
              <a:rPr b="1" i="0" lang="en-US" sz="1500" u="none" cap="none" strike="noStrike">
                <a:solidFill>
                  <a:srgbClr val="DC2626"/>
                </a:solidFill>
                <a:latin typeface="Vazirmatn"/>
                <a:ea typeface="Vazirmatn"/>
                <a:cs typeface="Vazirmatn"/>
                <a:sym typeface="Vazirmatn"/>
              </a:rPr>
              <a:t>توهم (Hallucination)</a:t>
            </a:r>
            <a:r>
              <a:rPr b="0" i="0" lang="en-US" sz="1500" u="none" cap="none" strike="noStrike">
                <a:solidFill>
                  <a:srgbClr val="475569"/>
                </a:solidFill>
                <a:latin typeface="Vazirmatn"/>
                <a:ea typeface="Vazirmatn"/>
                <a:cs typeface="Vazirmatn"/>
                <a:sym typeface="Vazirmatn"/>
              </a:rPr>
              <a:t> و تأیید بدون شواهد می‌شود.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5"/>
          <p:cNvSpPr/>
          <p:nvPr/>
        </p:nvSpPr>
        <p:spPr>
          <a:xfrm>
            <a:off x="11125200" y="1295400"/>
            <a:ext cx="457200" cy="28575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5"/>
          <p:cNvSpPr/>
          <p:nvPr/>
        </p:nvSpPr>
        <p:spPr>
          <a:xfrm>
            <a:off x="6086475" y="1933575"/>
            <a:ext cx="19050" cy="43148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14" name="Google Shape;114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48300" y="4672012"/>
            <a:ext cx="18097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5" name="Google Shape;115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48300" y="5157787"/>
            <a:ext cx="180975" cy="219075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5"/>
          <p:cNvSpPr txBox="1"/>
          <p:nvPr/>
        </p:nvSpPr>
        <p:spPr>
          <a:xfrm>
            <a:off x="-39052" y="609600"/>
            <a:ext cx="116214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F172A"/>
                </a:solidFill>
                <a:latin typeface="Vazirmatn"/>
                <a:ea typeface="Vazirmatn"/>
                <a:cs typeface="Vazirmatn"/>
                <a:sym typeface="Vazirmatn"/>
              </a:rPr>
              <a:t>راهکار پیشنهادی (سامانه codey-security)</a:t>
            </a:r>
            <a:endParaRPr/>
          </a:p>
        </p:txBody>
      </p:sp>
      <p:sp>
        <p:nvSpPr>
          <p:cNvPr id="117" name="Google Shape;117;p15"/>
          <p:cNvSpPr txBox="1"/>
          <p:nvPr/>
        </p:nvSpPr>
        <p:spPr>
          <a:xfrm>
            <a:off x="6211803" y="2231896"/>
            <a:ext cx="53706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0F172A"/>
                </a:solidFill>
                <a:latin typeface="Vazirmatn"/>
                <a:ea typeface="Vazirmatn"/>
                <a:cs typeface="Vazirmatn"/>
                <a:sym typeface="Vazirmatn"/>
              </a:rPr>
              <a:t>ایده اصلی</a:t>
            </a:r>
            <a:endParaRPr/>
          </a:p>
        </p:txBody>
      </p:sp>
      <p:sp>
        <p:nvSpPr>
          <p:cNvPr id="118" name="Google Shape;118;p15"/>
          <p:cNvSpPr txBox="1"/>
          <p:nvPr/>
        </p:nvSpPr>
        <p:spPr>
          <a:xfrm>
            <a:off x="6211875" y="3416800"/>
            <a:ext cx="5370600" cy="157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r">
              <a:lnSpc>
                <a:spcPct val="1399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EA580C"/>
                </a:solidFill>
                <a:latin typeface="Vazirmatn"/>
                <a:ea typeface="Vazirmatn"/>
                <a:cs typeface="Vazirmatn"/>
                <a:sym typeface="Vazirmatn"/>
              </a:rPr>
              <a:t>تحلیل ایستا به‌عنوان «پیشنهاد دهنده»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2700" u="none" cap="none" strike="noStrike">
                <a:solidFill>
                  <a:srgbClr val="EA580C"/>
                </a:solidFill>
                <a:latin typeface="Vazirmatn"/>
                <a:ea typeface="Vazirmatn"/>
                <a:cs typeface="Vazirmatn"/>
                <a:sym typeface="Vazirmatn"/>
              </a:rPr>
              <a:t> +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2700" u="none" cap="none" strike="noStrike">
                <a:solidFill>
                  <a:srgbClr val="EA580C"/>
                </a:solidFill>
                <a:latin typeface="Vazirmatn"/>
                <a:ea typeface="Vazirmatn"/>
                <a:cs typeface="Vazirmatn"/>
                <a:sym typeface="Vazirmatn"/>
              </a:rPr>
              <a:t> هوش مصنوعی به‌عنوان «داور»</a:t>
            </a:r>
            <a:endParaRPr/>
          </a:p>
        </p:txBody>
      </p:sp>
      <p:sp>
        <p:nvSpPr>
          <p:cNvPr id="119" name="Google Shape;119;p15"/>
          <p:cNvSpPr txBox="1"/>
          <p:nvPr/>
        </p:nvSpPr>
        <p:spPr>
          <a:xfrm>
            <a:off x="258603" y="2747962"/>
            <a:ext cx="5370671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Vazirmatn"/>
                <a:ea typeface="Vazirmatn"/>
                <a:cs typeface="Vazirmatn"/>
                <a:sym typeface="Vazirmatn"/>
              </a:rPr>
              <a:t>هدف</a:t>
            </a:r>
            <a:endParaRPr/>
          </a:p>
        </p:txBody>
      </p:sp>
      <p:sp>
        <p:nvSpPr>
          <p:cNvPr id="120" name="Google Shape;120;p15"/>
          <p:cNvSpPr txBox="1"/>
          <p:nvPr/>
        </p:nvSpPr>
        <p:spPr>
          <a:xfrm>
            <a:off x="514350" y="3128948"/>
            <a:ext cx="5115000" cy="5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0F172A"/>
                </a:solidFill>
                <a:latin typeface="Vazirmatn"/>
                <a:ea typeface="Vazirmatn"/>
                <a:cs typeface="Vazirmatn"/>
                <a:sym typeface="Vazirmatn"/>
              </a:rPr>
              <a:t>فیلتر کردن هشدارهای نادرست، بدون از دست دادن آسیب‌پذیری‌های واقعی.</a:t>
            </a:r>
            <a:endParaRPr/>
          </a:p>
        </p:txBody>
      </p:sp>
      <p:sp>
        <p:nvSpPr>
          <p:cNvPr id="121" name="Google Shape;121;p15"/>
          <p:cNvSpPr txBox="1"/>
          <p:nvPr/>
        </p:nvSpPr>
        <p:spPr>
          <a:xfrm>
            <a:off x="258603" y="4157662"/>
            <a:ext cx="5370671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Vazirmatn"/>
                <a:ea typeface="Vazirmatn"/>
                <a:cs typeface="Vazirmatn"/>
                <a:sym typeface="Vazirmatn"/>
              </a:rPr>
              <a:t>نوآوری‌ها</a:t>
            </a:r>
            <a:endParaRPr/>
          </a:p>
        </p:txBody>
      </p:sp>
      <p:sp>
        <p:nvSpPr>
          <p:cNvPr id="122" name="Google Shape;122;p15"/>
          <p:cNvSpPr txBox="1"/>
          <p:nvPr/>
        </p:nvSpPr>
        <p:spPr>
          <a:xfrm>
            <a:off x="809625" y="4614850"/>
            <a:ext cx="44127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EA580C"/>
                </a:solidFill>
                <a:latin typeface="Vazirmatn"/>
                <a:ea typeface="Vazirmatn"/>
                <a:cs typeface="Vazirmatn"/>
                <a:sym typeface="Vazirmatn"/>
              </a:rPr>
              <a:t>معماری چندعامله (</a:t>
            </a:r>
            <a:r>
              <a:rPr b="1" lang="en-US" sz="1650">
                <a:solidFill>
                  <a:srgbClr val="EA580C"/>
                </a:solidFill>
                <a:latin typeface="Vazirmatn"/>
                <a:ea typeface="Vazirmatn"/>
                <a:cs typeface="Vazirmatn"/>
                <a:sym typeface="Vazirmatn"/>
              </a:rPr>
              <a:t>جستجو گر</a:t>
            </a:r>
            <a:r>
              <a:rPr b="1" i="0" lang="en-US" sz="1650" u="none" cap="none" strike="noStrike">
                <a:solidFill>
                  <a:srgbClr val="EA580C"/>
                </a:solidFill>
                <a:latin typeface="Vazirmatn"/>
                <a:ea typeface="Vazirmatn"/>
                <a:cs typeface="Vazirmatn"/>
                <a:sym typeface="Vazirmatn"/>
              </a:rPr>
              <a:t> و ارزیاب)</a:t>
            </a:r>
            <a:endParaRPr/>
          </a:p>
        </p:txBody>
      </p:sp>
      <p:sp>
        <p:nvSpPr>
          <p:cNvPr id="123" name="Google Shape;123;p15"/>
          <p:cNvSpPr txBox="1"/>
          <p:nvPr/>
        </p:nvSpPr>
        <p:spPr>
          <a:xfrm>
            <a:off x="809625" y="5100625"/>
            <a:ext cx="44127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EA580C"/>
                </a:solidFill>
                <a:latin typeface="Vazirmatn"/>
                <a:ea typeface="Vazirmatn"/>
                <a:cs typeface="Vazirmatn"/>
                <a:sym typeface="Vazirmatn"/>
              </a:rPr>
              <a:t>استدلال منحصراً مبتنی بر شواهد ساخت‌‌یافته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6"/>
          <p:cNvSpPr/>
          <p:nvPr/>
        </p:nvSpPr>
        <p:spPr>
          <a:xfrm>
            <a:off x="11125200" y="1295400"/>
            <a:ext cx="457200" cy="28575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6"/>
          <p:cNvSpPr/>
          <p:nvPr/>
        </p:nvSpPr>
        <p:spPr>
          <a:xfrm>
            <a:off x="8394650" y="2905125"/>
            <a:ext cx="3187749" cy="2371725"/>
          </a:xfrm>
          <a:prstGeom prst="roundRect">
            <a:avLst>
              <a:gd fmla="val 6425" name="adj"/>
            </a:avLst>
          </a:prstGeom>
          <a:solidFill>
            <a:srgbClr val="FFFFFF"/>
          </a:solidFill>
          <a:ln cap="flat" cmpd="sng" w="190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16"/>
          <p:cNvSpPr/>
          <p:nvPr/>
        </p:nvSpPr>
        <p:spPr>
          <a:xfrm>
            <a:off x="4521100" y="2795587"/>
            <a:ext cx="3149649" cy="2590800"/>
          </a:xfrm>
          <a:prstGeom prst="roundRect">
            <a:avLst>
              <a:gd fmla="val 5882" name="adj"/>
            </a:avLst>
          </a:prstGeom>
          <a:solidFill>
            <a:srgbClr val="1E293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6"/>
          <p:cNvSpPr/>
          <p:nvPr/>
        </p:nvSpPr>
        <p:spPr>
          <a:xfrm>
            <a:off x="609451" y="2905125"/>
            <a:ext cx="3187749" cy="2371725"/>
          </a:xfrm>
          <a:prstGeom prst="roundRect">
            <a:avLst>
              <a:gd fmla="val 6425" name="adj"/>
            </a:avLst>
          </a:prstGeom>
          <a:solidFill>
            <a:srgbClr val="FFFFFF"/>
          </a:solidFill>
          <a:ln cap="flat" cmpd="sng" w="190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16"/>
          <p:cNvSpPr/>
          <p:nvPr/>
        </p:nvSpPr>
        <p:spPr>
          <a:xfrm>
            <a:off x="10658475" y="2733675"/>
            <a:ext cx="600075" cy="419100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6"/>
          <p:cNvSpPr/>
          <p:nvPr/>
        </p:nvSpPr>
        <p:spPr>
          <a:xfrm>
            <a:off x="6727775" y="2605087"/>
            <a:ext cx="638175" cy="419100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16"/>
          <p:cNvSpPr/>
          <p:nvPr/>
        </p:nvSpPr>
        <p:spPr>
          <a:xfrm>
            <a:off x="2816125" y="2733675"/>
            <a:ext cx="657225" cy="419100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35" name="Google Shape;135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899350" y="3938587"/>
            <a:ext cx="2667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6" name="Google Shape;13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025800" y="3938587"/>
            <a:ext cx="2667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7" name="Google Shape;137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750325" y="3305175"/>
            <a:ext cx="47625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8" name="Google Shape;138;p1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857726" y="3176587"/>
            <a:ext cx="47625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9" name="Google Shape;139;p1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988939" y="3305175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16"/>
          <p:cNvSpPr txBox="1"/>
          <p:nvPr/>
        </p:nvSpPr>
        <p:spPr>
          <a:xfrm>
            <a:off x="-39052" y="609600"/>
            <a:ext cx="116214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F172A"/>
                </a:solidFill>
                <a:latin typeface="Vazirmatn"/>
                <a:ea typeface="Vazirmatn"/>
                <a:cs typeface="Vazirmatn"/>
                <a:sym typeface="Vazirmatn"/>
              </a:rPr>
              <a:t>معماری کلی سامانه (معماری سه‌فاز)</a:t>
            </a:r>
            <a:endParaRPr/>
          </a:p>
        </p:txBody>
      </p:sp>
      <p:sp>
        <p:nvSpPr>
          <p:cNvPr id="141" name="Google Shape;141;p16"/>
          <p:cNvSpPr txBox="1"/>
          <p:nvPr/>
        </p:nvSpPr>
        <p:spPr>
          <a:xfrm>
            <a:off x="10668000" y="2809875"/>
            <a:ext cx="581025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Vazirmatn"/>
                <a:ea typeface="Vazirmatn"/>
                <a:cs typeface="Vazirmatn"/>
                <a:sym typeface="Vazirmatn"/>
              </a:rPr>
              <a:t>فاز ۱</a:t>
            </a:r>
            <a:endParaRPr/>
          </a:p>
        </p:txBody>
      </p:sp>
      <p:sp>
        <p:nvSpPr>
          <p:cNvPr id="142" name="Google Shape;142;p16"/>
          <p:cNvSpPr txBox="1"/>
          <p:nvPr/>
        </p:nvSpPr>
        <p:spPr>
          <a:xfrm>
            <a:off x="8321617" y="3914775"/>
            <a:ext cx="3333815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F172A"/>
                </a:solidFill>
                <a:latin typeface="Vazirmatn"/>
                <a:ea typeface="Vazirmatn"/>
                <a:cs typeface="Vazirmatn"/>
                <a:sym typeface="Vazirmatn"/>
              </a:rPr>
              <a:t>اجرای ابزارها</a:t>
            </a:r>
            <a:endParaRPr/>
          </a:p>
        </p:txBody>
      </p:sp>
      <p:sp>
        <p:nvSpPr>
          <p:cNvPr id="143" name="Google Shape;143;p16"/>
          <p:cNvSpPr txBox="1"/>
          <p:nvPr/>
        </p:nvSpPr>
        <p:spPr>
          <a:xfrm>
            <a:off x="8474200" y="4476738"/>
            <a:ext cx="3028500" cy="51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64748B"/>
                </a:solidFill>
                <a:latin typeface="Vazirmatn"/>
                <a:ea typeface="Vazirmatn"/>
                <a:cs typeface="Vazirmatn"/>
                <a:sym typeface="Vazirmatn"/>
              </a:rPr>
              <a:t>اجرای cppcheck, flawfinder, clang, bandit و ادغام یافته‌های تکراری.</a:t>
            </a:r>
            <a:endParaRPr/>
          </a:p>
        </p:txBody>
      </p:sp>
      <p:sp>
        <p:nvSpPr>
          <p:cNvPr id="144" name="Google Shape;144;p16"/>
          <p:cNvSpPr txBox="1"/>
          <p:nvPr/>
        </p:nvSpPr>
        <p:spPr>
          <a:xfrm>
            <a:off x="6737300" y="2681287"/>
            <a:ext cx="619125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Vazirmatn"/>
                <a:ea typeface="Vazirmatn"/>
                <a:cs typeface="Vazirmatn"/>
                <a:sym typeface="Vazirmatn"/>
              </a:rPr>
              <a:t>فاز ۲</a:t>
            </a:r>
            <a:endParaRPr/>
          </a:p>
        </p:txBody>
      </p:sp>
      <p:sp>
        <p:nvSpPr>
          <p:cNvPr id="145" name="Google Shape;145;p16"/>
          <p:cNvSpPr txBox="1"/>
          <p:nvPr/>
        </p:nvSpPr>
        <p:spPr>
          <a:xfrm>
            <a:off x="4429018" y="3786187"/>
            <a:ext cx="3333815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FFFFFF"/>
                </a:solidFill>
                <a:latin typeface="Vazirmatn"/>
                <a:ea typeface="Vazirmatn"/>
                <a:cs typeface="Vazirmatn"/>
                <a:sym typeface="Vazirmatn"/>
              </a:rPr>
              <a:t>داوری چندعامله</a:t>
            </a:r>
            <a:endParaRPr/>
          </a:p>
        </p:txBody>
      </p:sp>
      <p:sp>
        <p:nvSpPr>
          <p:cNvPr id="146" name="Google Shape;146;p16"/>
          <p:cNvSpPr txBox="1"/>
          <p:nvPr/>
        </p:nvSpPr>
        <p:spPr>
          <a:xfrm>
            <a:off x="4508319" y="4348162"/>
            <a:ext cx="3175200" cy="51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CBD5E1"/>
                </a:solidFill>
                <a:latin typeface="Vazirmatn"/>
                <a:ea typeface="Vazirmatn"/>
                <a:cs typeface="Vazirmatn"/>
                <a:sym typeface="Vazirmatn"/>
              </a:rPr>
              <a:t>جستجوگر ➔ فرضیه‌سازی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50" u="none" cap="none" strike="noStrike">
                <a:solidFill>
                  <a:srgbClr val="CBD5E1"/>
                </a:solidFill>
                <a:latin typeface="Vazirmatn"/>
                <a:ea typeface="Vazirmatn"/>
                <a:cs typeface="Vazirmatn"/>
                <a:sym typeface="Vazirmatn"/>
              </a:rPr>
              <a:t> ارزیاب ➔ داوری نهایی</a:t>
            </a:r>
            <a:endParaRPr/>
          </a:p>
        </p:txBody>
      </p:sp>
      <p:sp>
        <p:nvSpPr>
          <p:cNvPr id="147" name="Google Shape;147;p16"/>
          <p:cNvSpPr txBox="1"/>
          <p:nvPr/>
        </p:nvSpPr>
        <p:spPr>
          <a:xfrm>
            <a:off x="2825650" y="2809875"/>
            <a:ext cx="638175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Vazirmatn"/>
                <a:ea typeface="Vazirmatn"/>
                <a:cs typeface="Vazirmatn"/>
                <a:sym typeface="Vazirmatn"/>
              </a:rPr>
              <a:t>فاز ۳</a:t>
            </a:r>
            <a:endParaRPr/>
          </a:p>
        </p:txBody>
      </p:sp>
      <p:sp>
        <p:nvSpPr>
          <p:cNvPr id="148" name="Google Shape;148;p16"/>
          <p:cNvSpPr txBox="1"/>
          <p:nvPr/>
        </p:nvSpPr>
        <p:spPr>
          <a:xfrm>
            <a:off x="536418" y="3914775"/>
            <a:ext cx="3333815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F172A"/>
                </a:solidFill>
                <a:latin typeface="Vazirmatn"/>
                <a:ea typeface="Vazirmatn"/>
                <a:cs typeface="Vazirmatn"/>
                <a:sym typeface="Vazirmatn"/>
              </a:rPr>
              <a:t>ارزیابی و گزارش</a:t>
            </a:r>
            <a:endParaRPr/>
          </a:p>
        </p:txBody>
      </p:sp>
      <p:sp>
        <p:nvSpPr>
          <p:cNvPr id="149" name="Google Shape;149;p16"/>
          <p:cNvSpPr txBox="1"/>
          <p:nvPr/>
        </p:nvSpPr>
        <p:spPr>
          <a:xfrm>
            <a:off x="621994" y="4476750"/>
            <a:ext cx="3175200" cy="51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64748B"/>
                </a:solidFill>
                <a:latin typeface="Vazirmatn"/>
                <a:ea typeface="Vazirmatn"/>
                <a:cs typeface="Vazirmatn"/>
                <a:sym typeface="Vazirmatn"/>
              </a:rPr>
              <a:t>سنجش خروجی‌ها با برچسب‌های واقعی دیتاست.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7"/>
          <p:cNvSpPr/>
          <p:nvPr/>
        </p:nvSpPr>
        <p:spPr>
          <a:xfrm>
            <a:off x="11125200" y="1295400"/>
            <a:ext cx="457200" cy="28575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7"/>
          <p:cNvSpPr/>
          <p:nvPr/>
        </p:nvSpPr>
        <p:spPr>
          <a:xfrm>
            <a:off x="556898" y="2563150"/>
            <a:ext cx="5048400" cy="1735200"/>
          </a:xfrm>
          <a:prstGeom prst="roundRect">
            <a:avLst>
              <a:gd fmla="val 9104" name="adj"/>
            </a:avLst>
          </a:prstGeom>
          <a:solidFill>
            <a:srgbClr val="0F17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7"/>
          <p:cNvSpPr/>
          <p:nvPr/>
        </p:nvSpPr>
        <p:spPr>
          <a:xfrm>
            <a:off x="750938" y="2725843"/>
            <a:ext cx="114300" cy="114300"/>
          </a:xfrm>
          <a:prstGeom prst="roundRect">
            <a:avLst>
              <a:gd fmla="val 50000" name="adj"/>
            </a:avLst>
          </a:prstGeom>
          <a:solidFill>
            <a:srgbClr val="EF444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7"/>
          <p:cNvSpPr/>
          <p:nvPr/>
        </p:nvSpPr>
        <p:spPr>
          <a:xfrm>
            <a:off x="941438" y="2725843"/>
            <a:ext cx="114300" cy="114300"/>
          </a:xfrm>
          <a:prstGeom prst="roundRect">
            <a:avLst>
              <a:gd fmla="val 50000" name="adj"/>
            </a:avLst>
          </a:prstGeom>
          <a:solidFill>
            <a:srgbClr val="EAB30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17"/>
          <p:cNvSpPr/>
          <p:nvPr/>
        </p:nvSpPr>
        <p:spPr>
          <a:xfrm>
            <a:off x="1131938" y="2725843"/>
            <a:ext cx="114300" cy="114300"/>
          </a:xfrm>
          <a:prstGeom prst="roundRect">
            <a:avLst>
              <a:gd fmla="val 50000" name="adj"/>
            </a:avLst>
          </a:prstGeom>
          <a:solidFill>
            <a:srgbClr val="22C55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17"/>
          <p:cNvSpPr txBox="1"/>
          <p:nvPr/>
        </p:nvSpPr>
        <p:spPr>
          <a:xfrm>
            <a:off x="-39002" y="609875"/>
            <a:ext cx="116214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F172A"/>
                </a:solidFill>
                <a:latin typeface="Vazirmatn"/>
                <a:ea typeface="Vazirmatn"/>
                <a:cs typeface="Vazirmatn"/>
                <a:sym typeface="Vazirmatn"/>
              </a:rPr>
              <a:t>بستهٔ شواهد و جلوگیری از نشت برچسب</a:t>
            </a:r>
            <a:endParaRPr/>
          </a:p>
        </p:txBody>
      </p:sp>
      <p:sp>
        <p:nvSpPr>
          <p:cNvPr id="160" name="Google Shape;160;p17"/>
          <p:cNvSpPr txBox="1"/>
          <p:nvPr/>
        </p:nvSpPr>
        <p:spPr>
          <a:xfrm>
            <a:off x="750938" y="3068750"/>
            <a:ext cx="4580100" cy="107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C678DD"/>
                </a:solidFill>
                <a:latin typeface="Fira Code"/>
                <a:ea typeface="Fira Code"/>
                <a:cs typeface="Fira Code"/>
                <a:sym typeface="Fira Code"/>
              </a:rPr>
              <a:t>void</a:t>
            </a:r>
            <a:r>
              <a:rPr b="0" i="0" lang="en-US" sz="1200" u="none" cap="none" strike="noStrike">
                <a:solidFill>
                  <a:srgbClr val="E2E8F0"/>
                </a:solidFill>
                <a:latin typeface="Fira Code"/>
                <a:ea typeface="Fira Code"/>
                <a:cs typeface="Fira Code"/>
                <a:sym typeface="Fira Code"/>
              </a:rPr>
              <a:t> </a:t>
            </a:r>
            <a:r>
              <a:rPr b="0" i="0" lang="en-US" sz="1200" u="none" cap="none" strike="noStrike">
                <a:solidFill>
                  <a:srgbClr val="61AFEF"/>
                </a:solidFill>
                <a:latin typeface="Fira Code"/>
                <a:ea typeface="Fira Code"/>
                <a:cs typeface="Fira Code"/>
                <a:sym typeface="Fira Code"/>
              </a:rPr>
              <a:t>process_data</a:t>
            </a:r>
            <a:r>
              <a:rPr b="0" i="0" lang="en-US" sz="1200" u="none" cap="none" strike="noStrike">
                <a:solidFill>
                  <a:srgbClr val="E2E8F0"/>
                </a:solidFill>
                <a:latin typeface="Fira Code"/>
                <a:ea typeface="Fira Code"/>
                <a:cs typeface="Fira Code"/>
                <a:sym typeface="Fira Code"/>
              </a:rPr>
              <a:t>(</a:t>
            </a:r>
            <a:r>
              <a:rPr b="0" i="0" lang="en-US" sz="1200" u="none" cap="none" strike="noStrike">
                <a:solidFill>
                  <a:srgbClr val="C678DD"/>
                </a:solidFill>
                <a:latin typeface="Fira Code"/>
                <a:ea typeface="Fira Code"/>
                <a:cs typeface="Fira Code"/>
                <a:sym typeface="Fira Code"/>
              </a:rPr>
              <a:t>char</a:t>
            </a:r>
            <a:r>
              <a:rPr b="0" i="0" lang="en-US" sz="1200" u="none" cap="none" strike="noStrike">
                <a:solidFill>
                  <a:srgbClr val="E2E8F0"/>
                </a:solidFill>
                <a:latin typeface="Fira Code"/>
                <a:ea typeface="Fira Code"/>
                <a:cs typeface="Fira Code"/>
                <a:sym typeface="Fira Code"/>
              </a:rPr>
              <a:t> *</a:t>
            </a:r>
            <a:r>
              <a:rPr b="0" i="0" lang="en-US" sz="1200" u="none" cap="none" strike="noStrike">
                <a:solidFill>
                  <a:srgbClr val="E06C75"/>
                </a:solidFill>
                <a:latin typeface="Fira Code"/>
                <a:ea typeface="Fira Code"/>
                <a:cs typeface="Fira Code"/>
                <a:sym typeface="Fira Code"/>
              </a:rPr>
              <a:t>bad_buffer</a:t>
            </a:r>
            <a:r>
              <a:rPr b="0" i="0" lang="en-US" sz="1200" u="none" cap="none" strike="noStrike">
                <a:solidFill>
                  <a:srgbClr val="E2E8F0"/>
                </a:solidFill>
                <a:latin typeface="Fira Code"/>
                <a:ea typeface="Fira Code"/>
                <a:cs typeface="Fira Code"/>
                <a:sym typeface="Fira Code"/>
              </a:rPr>
              <a:t> </a:t>
            </a:r>
            <a:r>
              <a:rPr b="0" i="0" lang="en-US" sz="1200" u="none" cap="none" strike="noStrike">
                <a:solidFill>
                  <a:srgbClr val="98C379"/>
                </a:solidFill>
                <a:latin typeface="Fira Code"/>
                <a:ea typeface="Fira Code"/>
                <a:cs typeface="Fira Code"/>
                <a:sym typeface="Fira Code"/>
              </a:rPr>
              <a:t>var_1</a:t>
            </a:r>
            <a:r>
              <a:rPr b="0" i="0" lang="en-US" sz="1200" u="none" cap="none" strike="noStrike">
                <a:solidFill>
                  <a:srgbClr val="E2E8F0"/>
                </a:solidFill>
                <a:latin typeface="Fira Code"/>
                <a:ea typeface="Fira Code"/>
                <a:cs typeface="Fira Code"/>
                <a:sym typeface="Fira Code"/>
              </a:rPr>
              <a:t>) {</a:t>
            </a:r>
            <a:endParaRPr sz="1200">
              <a:solidFill>
                <a:srgbClr val="E2E8F0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indent="45720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C678DD"/>
                </a:solidFill>
                <a:latin typeface="Fira Code"/>
                <a:ea typeface="Fira Code"/>
                <a:cs typeface="Fira Code"/>
                <a:sym typeface="Fira Code"/>
              </a:rPr>
              <a:t>char</a:t>
            </a:r>
            <a:r>
              <a:rPr b="0" i="0" lang="en-US" sz="1200" u="none" cap="none" strike="noStrike">
                <a:solidFill>
                  <a:srgbClr val="E2E8F0"/>
                </a:solidFill>
                <a:latin typeface="Fira Code"/>
                <a:ea typeface="Fira Code"/>
                <a:cs typeface="Fira Code"/>
                <a:sym typeface="Fira Code"/>
              </a:rPr>
              <a:t> dest[</a:t>
            </a:r>
            <a:r>
              <a:rPr b="0" i="0" lang="en-US" sz="1200" u="none" cap="none" strike="noStrike">
                <a:solidFill>
                  <a:srgbClr val="D19A66"/>
                </a:solidFill>
                <a:latin typeface="Fira Code"/>
                <a:ea typeface="Fira Code"/>
                <a:cs typeface="Fira Code"/>
                <a:sym typeface="Fira Code"/>
              </a:rPr>
              <a:t>50</a:t>
            </a:r>
            <a:r>
              <a:rPr b="0" i="0" lang="en-US" sz="1200" u="none" cap="none" strike="noStrike">
                <a:solidFill>
                  <a:srgbClr val="E2E8F0"/>
                </a:solidFill>
                <a:latin typeface="Fira Code"/>
                <a:ea typeface="Fira Code"/>
                <a:cs typeface="Fira Code"/>
                <a:sym typeface="Fira Code"/>
              </a:rPr>
              <a:t>];</a:t>
            </a:r>
            <a:endParaRPr sz="1200">
              <a:solidFill>
                <a:srgbClr val="E2E8F0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indent="45720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6B6C2"/>
                </a:solidFill>
                <a:latin typeface="Fira Code"/>
                <a:ea typeface="Fira Code"/>
                <a:cs typeface="Fira Code"/>
                <a:sym typeface="Fira Code"/>
              </a:rPr>
              <a:t>strcpy</a:t>
            </a:r>
            <a:r>
              <a:rPr b="0" i="0" lang="en-US" sz="1200" u="none" cap="none" strike="noStrike">
                <a:solidFill>
                  <a:srgbClr val="E2E8F0"/>
                </a:solidFill>
                <a:latin typeface="Fira Code"/>
                <a:ea typeface="Fira Code"/>
                <a:cs typeface="Fira Code"/>
                <a:sym typeface="Fira Code"/>
              </a:rPr>
              <a:t>(dest, </a:t>
            </a:r>
            <a:r>
              <a:rPr b="0" i="0" lang="en-US" sz="1200" u="none" cap="none" strike="noStrike">
                <a:solidFill>
                  <a:srgbClr val="98C379"/>
                </a:solidFill>
                <a:latin typeface="Fira Code"/>
                <a:ea typeface="Fira Code"/>
                <a:cs typeface="Fira Code"/>
                <a:sym typeface="Fira Code"/>
              </a:rPr>
              <a:t>var_1</a:t>
            </a:r>
            <a:r>
              <a:rPr b="0" i="0" lang="en-US" sz="1200" u="none" cap="none" strike="noStrike">
                <a:solidFill>
                  <a:srgbClr val="E2E8F0"/>
                </a:solidFill>
                <a:latin typeface="Fira Code"/>
                <a:ea typeface="Fira Code"/>
                <a:cs typeface="Fira Code"/>
                <a:sym typeface="Fira Code"/>
              </a:rPr>
              <a:t>);</a:t>
            </a:r>
            <a:r>
              <a:rPr lang="en-US" sz="1200">
                <a:solidFill>
                  <a:srgbClr val="E2E8F0"/>
                </a:solidFill>
                <a:latin typeface="Fira Code"/>
                <a:ea typeface="Fira Code"/>
                <a:cs typeface="Fira Code"/>
                <a:sym typeface="Fira Code"/>
              </a:rPr>
              <a:t>	  </a:t>
            </a:r>
            <a:r>
              <a:rPr lang="en-US" sz="1200">
                <a:solidFill>
                  <a:srgbClr val="94A3B8"/>
                </a:solidFill>
                <a:latin typeface="Fira Code"/>
                <a:ea typeface="Fira Code"/>
                <a:cs typeface="Fira Code"/>
                <a:sym typeface="Fira Code"/>
              </a:rPr>
              <a:t>// </a:t>
            </a:r>
            <a:r>
              <a:rPr b="0" i="0" lang="en-US" sz="1200" u="none" cap="none" strike="noStrike">
                <a:solidFill>
                  <a:srgbClr val="94A3B8"/>
                </a:solidFill>
                <a:latin typeface="Fira Code"/>
                <a:ea typeface="Fira Code"/>
                <a:cs typeface="Fira Code"/>
                <a:sym typeface="Fira Code"/>
              </a:rPr>
              <a:t>Buffer Overflow</a:t>
            </a:r>
            <a:endParaRPr sz="1200">
              <a:solidFill>
                <a:srgbClr val="E2E8F0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2E8F0"/>
                </a:solidFill>
                <a:latin typeface="Fira Code"/>
                <a:ea typeface="Fira Code"/>
                <a:cs typeface="Fira Code"/>
                <a:sym typeface="Fira Code"/>
              </a:rPr>
              <a:t>}</a:t>
            </a:r>
            <a:endParaRPr/>
          </a:p>
        </p:txBody>
      </p:sp>
      <p:sp>
        <p:nvSpPr>
          <p:cNvPr id="161" name="Google Shape;161;p17"/>
          <p:cNvSpPr txBox="1"/>
          <p:nvPr/>
        </p:nvSpPr>
        <p:spPr>
          <a:xfrm>
            <a:off x="6174287" y="1995487"/>
            <a:ext cx="53007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F172A"/>
                </a:solidFill>
                <a:latin typeface="Vazirmatn"/>
                <a:ea typeface="Vazirmatn"/>
                <a:cs typeface="Vazirmatn"/>
                <a:sym typeface="Vazirmatn"/>
              </a:rPr>
              <a:t>محتوای بستهٔ شواهد</a:t>
            </a:r>
            <a:endParaRPr/>
          </a:p>
        </p:txBody>
      </p:sp>
      <p:sp>
        <p:nvSpPr>
          <p:cNvPr id="162" name="Google Shape;162;p17"/>
          <p:cNvSpPr txBox="1"/>
          <p:nvPr/>
        </p:nvSpPr>
        <p:spPr>
          <a:xfrm>
            <a:off x="6426700" y="2471737"/>
            <a:ext cx="50484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Vazirmatn"/>
                <a:ea typeface="Vazirmatn"/>
                <a:cs typeface="Vazirmatn"/>
                <a:sym typeface="Vazirmatn"/>
              </a:rPr>
              <a:t>قطعهٔ کد (شعاع ۸ خط)، فهرست فراخوانی‌ها (AST)، و مسیر جریان داده.</a:t>
            </a:r>
            <a:endParaRPr/>
          </a:p>
        </p:txBody>
      </p:sp>
      <p:sp>
        <p:nvSpPr>
          <p:cNvPr id="163" name="Google Shape;163;p17"/>
          <p:cNvSpPr txBox="1"/>
          <p:nvPr/>
        </p:nvSpPr>
        <p:spPr>
          <a:xfrm>
            <a:off x="6174287" y="3462337"/>
            <a:ext cx="53007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DC2626"/>
                </a:solidFill>
                <a:latin typeface="Vazirmatn"/>
                <a:ea typeface="Vazirmatn"/>
                <a:cs typeface="Vazirmatn"/>
                <a:sym typeface="Vazirmatn"/>
              </a:rPr>
              <a:t>چالش نشت برچسب (Label Leakage)</a:t>
            </a:r>
            <a:endParaRPr/>
          </a:p>
        </p:txBody>
      </p:sp>
      <p:sp>
        <p:nvSpPr>
          <p:cNvPr id="164" name="Google Shape;164;p17"/>
          <p:cNvSpPr txBox="1"/>
          <p:nvPr/>
        </p:nvSpPr>
        <p:spPr>
          <a:xfrm>
            <a:off x="6426700" y="3938587"/>
            <a:ext cx="50484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Vazirmatn"/>
                <a:ea typeface="Vazirmatn"/>
                <a:cs typeface="Vazirmatn"/>
                <a:sym typeface="Vazirmatn"/>
              </a:rPr>
              <a:t>کدهای آزمایشی حاوی کلماتی مثل bad/good هستند که پاسخ را افشا می‌کنند.</a:t>
            </a:r>
            <a:endParaRPr/>
          </a:p>
        </p:txBody>
      </p:sp>
      <p:sp>
        <p:nvSpPr>
          <p:cNvPr id="165" name="Google Shape;165;p17"/>
          <p:cNvSpPr txBox="1"/>
          <p:nvPr/>
        </p:nvSpPr>
        <p:spPr>
          <a:xfrm>
            <a:off x="6174287" y="4948237"/>
            <a:ext cx="53007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6A34A"/>
                </a:solidFill>
                <a:latin typeface="Vazirmatn"/>
                <a:ea typeface="Vazirmatn"/>
                <a:cs typeface="Vazirmatn"/>
                <a:sym typeface="Vazirmatn"/>
              </a:rPr>
              <a:t>راه‌حل ما</a:t>
            </a:r>
            <a:endParaRPr/>
          </a:p>
        </p:txBody>
      </p:sp>
      <p:sp>
        <p:nvSpPr>
          <p:cNvPr id="166" name="Google Shape;166;p17"/>
          <p:cNvSpPr txBox="1"/>
          <p:nvPr/>
        </p:nvSpPr>
        <p:spPr>
          <a:xfrm>
            <a:off x="7036900" y="5424475"/>
            <a:ext cx="44382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Vazirmatn"/>
                <a:ea typeface="Vazirmatn"/>
                <a:cs typeface="Vazirmatn"/>
                <a:sym typeface="Vazirmatn"/>
              </a:rPr>
              <a:t>ماژول پاک‌سازی کد: حذف حاشیه‌نویسی‌ها و بازنام‌گذاری متغیرهای افشاگر پیش از ارسال به مدل.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18"/>
          <p:cNvSpPr/>
          <p:nvPr/>
        </p:nvSpPr>
        <p:spPr>
          <a:xfrm>
            <a:off x="11125200" y="1295400"/>
            <a:ext cx="457200" cy="28575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8"/>
          <p:cNvSpPr/>
          <p:nvPr/>
        </p:nvSpPr>
        <p:spPr>
          <a:xfrm>
            <a:off x="8083599" y="2619375"/>
            <a:ext cx="3498800" cy="3381375"/>
          </a:xfrm>
          <a:prstGeom prst="roundRect">
            <a:avLst>
              <a:gd fmla="val 4507" name="adj"/>
            </a:avLst>
          </a:prstGeom>
          <a:solidFill>
            <a:srgbClr val="FFFFFF"/>
          </a:solidFill>
          <a:ln cap="flat" cmpd="sng" w="9525">
            <a:solidFill>
              <a:srgbClr val="E0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8"/>
          <p:cNvSpPr/>
          <p:nvPr/>
        </p:nvSpPr>
        <p:spPr>
          <a:xfrm>
            <a:off x="4356199" y="2619375"/>
            <a:ext cx="3498800" cy="3381375"/>
          </a:xfrm>
          <a:prstGeom prst="roundRect">
            <a:avLst>
              <a:gd fmla="val 4507" name="adj"/>
            </a:avLst>
          </a:prstGeom>
          <a:solidFill>
            <a:srgbClr val="FFFFFF"/>
          </a:solidFill>
          <a:ln cap="flat" cmpd="sng" w="9525">
            <a:solidFill>
              <a:srgbClr val="22C55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8"/>
          <p:cNvSpPr/>
          <p:nvPr/>
        </p:nvSpPr>
        <p:spPr>
          <a:xfrm>
            <a:off x="609748" y="2609850"/>
            <a:ext cx="3517850" cy="3400425"/>
          </a:xfrm>
          <a:prstGeom prst="roundRect">
            <a:avLst>
              <a:gd fmla="val 4481" name="adj"/>
            </a:avLst>
          </a:prstGeom>
          <a:solidFill>
            <a:srgbClr val="FFF7ED"/>
          </a:solidFill>
          <a:ln cap="flat" cmpd="sng" w="19050">
            <a:solidFill>
              <a:srgbClr val="FDBA7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8"/>
          <p:cNvSpPr/>
          <p:nvPr/>
        </p:nvSpPr>
        <p:spPr>
          <a:xfrm>
            <a:off x="1630560" y="2476500"/>
            <a:ext cx="1476375" cy="352425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76" name="Google Shape;176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452074" y="3086100"/>
            <a:ext cx="762000" cy="762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7" name="Google Shape;177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24673" y="3086100"/>
            <a:ext cx="762000" cy="762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8" name="Google Shape;178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987748" y="3086100"/>
            <a:ext cx="762000" cy="762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9" name="Google Shape;179;p1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661624" y="3295650"/>
            <a:ext cx="3429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0" name="Google Shape;180;p1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934223" y="3295650"/>
            <a:ext cx="3429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1" name="Google Shape;181;p1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97298" y="3295650"/>
            <a:ext cx="342900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18"/>
          <p:cNvSpPr txBox="1"/>
          <p:nvPr/>
        </p:nvSpPr>
        <p:spPr>
          <a:xfrm>
            <a:off x="-39052" y="609600"/>
            <a:ext cx="116214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F172A"/>
                </a:solidFill>
                <a:latin typeface="Vazirmatn"/>
                <a:ea typeface="Vazirmatn"/>
                <a:cs typeface="Vazirmatn"/>
                <a:sym typeface="Vazirmatn"/>
              </a:rPr>
              <a:t>خروجی سه‌گزینه‌ای (نوآوری در تصمیم‌گیری)</a:t>
            </a:r>
            <a:endParaRPr/>
          </a:p>
        </p:txBody>
      </p:sp>
      <p:sp>
        <p:nvSpPr>
          <p:cNvPr id="183" name="Google Shape;183;p18"/>
          <p:cNvSpPr txBox="1"/>
          <p:nvPr/>
        </p:nvSpPr>
        <p:spPr>
          <a:xfrm>
            <a:off x="514350" y="1552575"/>
            <a:ext cx="110682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64748B"/>
                </a:solidFill>
                <a:latin typeface="Vazirmatn"/>
                <a:ea typeface="Vazirmatn"/>
                <a:cs typeface="Vazirmatn"/>
                <a:sym typeface="Vazirmatn"/>
              </a:rPr>
              <a:t>پرهیز از تصمیمات سیاه و سفید (Zero-Sum).</a:t>
            </a:r>
            <a:endParaRPr/>
          </a:p>
        </p:txBody>
      </p:sp>
      <p:sp>
        <p:nvSpPr>
          <p:cNvPr id="184" name="Google Shape;184;p18"/>
          <p:cNvSpPr txBox="1"/>
          <p:nvPr/>
        </p:nvSpPr>
        <p:spPr>
          <a:xfrm>
            <a:off x="7949463" y="4076700"/>
            <a:ext cx="3767072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0F172A"/>
                </a:solidFill>
                <a:latin typeface="Vazirmatn"/>
                <a:ea typeface="Vazirmatn"/>
                <a:cs typeface="Vazirmatn"/>
                <a:sym typeface="Vazirmatn"/>
              </a:rPr>
              <a:t>تأییدشده</a:t>
            </a:r>
            <a:endParaRPr/>
          </a:p>
        </p:txBody>
      </p:sp>
      <p:sp>
        <p:nvSpPr>
          <p:cNvPr id="185" name="Google Shape;185;p18"/>
          <p:cNvSpPr txBox="1"/>
          <p:nvPr/>
        </p:nvSpPr>
        <p:spPr>
          <a:xfrm>
            <a:off x="8039155" y="4572000"/>
            <a:ext cx="3587687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F172A"/>
                </a:solidFill>
                <a:latin typeface="Fira Code"/>
                <a:ea typeface="Fira Code"/>
                <a:cs typeface="Fira Code"/>
                <a:sym typeface="Fira Code"/>
              </a:rPr>
              <a:t>(Confirmed)</a:t>
            </a:r>
            <a:endParaRPr/>
          </a:p>
        </p:txBody>
      </p:sp>
      <p:sp>
        <p:nvSpPr>
          <p:cNvPr id="186" name="Google Shape;186;p18"/>
          <p:cNvSpPr txBox="1"/>
          <p:nvPr/>
        </p:nvSpPr>
        <p:spPr>
          <a:xfrm>
            <a:off x="8749475" y="4998375"/>
            <a:ext cx="2167200" cy="49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Vazirmatn"/>
                <a:ea typeface="Vazirmatn"/>
                <a:cs typeface="Vazirmatn"/>
                <a:sym typeface="Vazirmatn"/>
              </a:rPr>
              <a:t>شواهد کافی برای وجود باگ در دسترس است.</a:t>
            </a:r>
            <a:endParaRPr/>
          </a:p>
        </p:txBody>
      </p:sp>
      <p:sp>
        <p:nvSpPr>
          <p:cNvPr id="187" name="Google Shape;187;p18"/>
          <p:cNvSpPr txBox="1"/>
          <p:nvPr/>
        </p:nvSpPr>
        <p:spPr>
          <a:xfrm>
            <a:off x="4222063" y="4076700"/>
            <a:ext cx="3767072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0F172A"/>
                </a:solidFill>
                <a:latin typeface="Vazirmatn"/>
                <a:ea typeface="Vazirmatn"/>
                <a:cs typeface="Vazirmatn"/>
                <a:sym typeface="Vazirmatn"/>
              </a:rPr>
              <a:t>ردشده</a:t>
            </a:r>
            <a:endParaRPr/>
          </a:p>
        </p:txBody>
      </p:sp>
      <p:sp>
        <p:nvSpPr>
          <p:cNvPr id="188" name="Google Shape;188;p18"/>
          <p:cNvSpPr txBox="1"/>
          <p:nvPr/>
        </p:nvSpPr>
        <p:spPr>
          <a:xfrm>
            <a:off x="4311755" y="4572000"/>
            <a:ext cx="3587687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F172A"/>
                </a:solidFill>
                <a:latin typeface="Fira Code"/>
                <a:ea typeface="Fira Code"/>
                <a:cs typeface="Fira Code"/>
                <a:sym typeface="Fira Code"/>
              </a:rPr>
              <a:t>(Rejected)</a:t>
            </a:r>
            <a:endParaRPr/>
          </a:p>
        </p:txBody>
      </p:sp>
      <p:sp>
        <p:nvSpPr>
          <p:cNvPr id="189" name="Google Shape;189;p18"/>
          <p:cNvSpPr txBox="1"/>
          <p:nvPr/>
        </p:nvSpPr>
        <p:spPr>
          <a:xfrm>
            <a:off x="5087000" y="4998375"/>
            <a:ext cx="2072100" cy="49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Vazirmatn"/>
                <a:ea typeface="Vazirmatn"/>
                <a:cs typeface="Vazirmatn"/>
                <a:sym typeface="Vazirmatn"/>
              </a:rPr>
              <a:t>شواهد، بی‌خطر بودن کد را اثبات می‌کند.</a:t>
            </a:r>
            <a:endParaRPr/>
          </a:p>
        </p:txBody>
      </p:sp>
      <p:sp>
        <p:nvSpPr>
          <p:cNvPr id="190" name="Google Shape;190;p18"/>
          <p:cNvSpPr txBox="1"/>
          <p:nvPr/>
        </p:nvSpPr>
        <p:spPr>
          <a:xfrm>
            <a:off x="1598414" y="2533650"/>
            <a:ext cx="1540668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Vazirmatn"/>
                <a:ea typeface="Vazirmatn"/>
                <a:cs typeface="Vazirmatn"/>
                <a:sym typeface="Vazirmatn"/>
              </a:rPr>
              <a:t>نیاز به عامل انسانی</a:t>
            </a:r>
            <a:endParaRPr/>
          </a:p>
        </p:txBody>
      </p:sp>
      <p:sp>
        <p:nvSpPr>
          <p:cNvPr id="191" name="Google Shape;191;p18"/>
          <p:cNvSpPr txBox="1"/>
          <p:nvPr/>
        </p:nvSpPr>
        <p:spPr>
          <a:xfrm>
            <a:off x="485137" y="4076700"/>
            <a:ext cx="3767072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0F172A"/>
                </a:solidFill>
                <a:latin typeface="Vazirmatn"/>
                <a:ea typeface="Vazirmatn"/>
                <a:cs typeface="Vazirmatn"/>
                <a:sym typeface="Vazirmatn"/>
              </a:rPr>
              <a:t>نامطمئن</a:t>
            </a:r>
            <a:endParaRPr/>
          </a:p>
        </p:txBody>
      </p:sp>
      <p:sp>
        <p:nvSpPr>
          <p:cNvPr id="192" name="Google Shape;192;p18"/>
          <p:cNvSpPr txBox="1"/>
          <p:nvPr/>
        </p:nvSpPr>
        <p:spPr>
          <a:xfrm>
            <a:off x="574830" y="4572000"/>
            <a:ext cx="3587687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F172A"/>
                </a:solidFill>
                <a:latin typeface="Fira Code"/>
                <a:ea typeface="Fira Code"/>
                <a:cs typeface="Fira Code"/>
                <a:sym typeface="Fira Code"/>
              </a:rPr>
              <a:t>(Uncertain)</a:t>
            </a:r>
            <a:endParaRPr/>
          </a:p>
        </p:txBody>
      </p:sp>
      <p:sp>
        <p:nvSpPr>
          <p:cNvPr id="193" name="Google Shape;193;p18"/>
          <p:cNvSpPr txBox="1"/>
          <p:nvPr/>
        </p:nvSpPr>
        <p:spPr>
          <a:xfrm>
            <a:off x="1314000" y="4998375"/>
            <a:ext cx="2109300" cy="49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Vazirmatn"/>
                <a:ea typeface="Vazirmatn"/>
                <a:cs typeface="Vazirmatn"/>
                <a:sym typeface="Vazirmatn"/>
              </a:rPr>
              <a:t>شواهد برای قضاوت قطعی کافی نیست.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9"/>
          <p:cNvSpPr/>
          <p:nvPr/>
        </p:nvSpPr>
        <p:spPr>
          <a:xfrm>
            <a:off x="11125200" y="1295400"/>
            <a:ext cx="457200" cy="28575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9"/>
          <p:cNvSpPr/>
          <p:nvPr/>
        </p:nvSpPr>
        <p:spPr>
          <a:xfrm>
            <a:off x="8248650" y="2495550"/>
            <a:ext cx="3333750" cy="1076325"/>
          </a:xfrm>
          <a:prstGeom prst="roundRect">
            <a:avLst>
              <a:gd fmla="val 10619" name="adj"/>
            </a:avLst>
          </a:prstGeom>
          <a:solidFill>
            <a:srgbClr val="F8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9"/>
          <p:cNvSpPr/>
          <p:nvPr/>
        </p:nvSpPr>
        <p:spPr>
          <a:xfrm>
            <a:off x="8248650" y="3800475"/>
            <a:ext cx="3333750" cy="1076325"/>
          </a:xfrm>
          <a:prstGeom prst="roundRect">
            <a:avLst>
              <a:gd fmla="val 10619" name="adj"/>
            </a:avLst>
          </a:prstGeom>
          <a:solidFill>
            <a:srgbClr val="F8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19"/>
          <p:cNvSpPr/>
          <p:nvPr/>
        </p:nvSpPr>
        <p:spPr>
          <a:xfrm>
            <a:off x="8248650" y="5105400"/>
            <a:ext cx="3333750" cy="1076325"/>
          </a:xfrm>
          <a:prstGeom prst="roundRect">
            <a:avLst>
              <a:gd fmla="val 10619" name="adj"/>
            </a:avLst>
          </a:prstGeom>
          <a:solidFill>
            <a:srgbClr val="F8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19"/>
          <p:cNvSpPr/>
          <p:nvPr/>
        </p:nvSpPr>
        <p:spPr>
          <a:xfrm>
            <a:off x="11544300" y="2495550"/>
            <a:ext cx="38100" cy="10763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19"/>
          <p:cNvSpPr/>
          <p:nvPr/>
        </p:nvSpPr>
        <p:spPr>
          <a:xfrm>
            <a:off x="11544300" y="3800475"/>
            <a:ext cx="38100" cy="10763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9"/>
          <p:cNvSpPr/>
          <p:nvPr/>
        </p:nvSpPr>
        <p:spPr>
          <a:xfrm>
            <a:off x="11544300" y="5105400"/>
            <a:ext cx="38100" cy="10763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19"/>
          <p:cNvSpPr/>
          <p:nvPr/>
        </p:nvSpPr>
        <p:spPr>
          <a:xfrm>
            <a:off x="4238625" y="2495550"/>
            <a:ext cx="3400425" cy="1085850"/>
          </a:xfrm>
          <a:prstGeom prst="roundRect">
            <a:avLst>
              <a:gd fmla="val 10526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19"/>
          <p:cNvSpPr/>
          <p:nvPr/>
        </p:nvSpPr>
        <p:spPr>
          <a:xfrm>
            <a:off x="609600" y="2495550"/>
            <a:ext cx="3400425" cy="1085850"/>
          </a:xfrm>
          <a:prstGeom prst="roundRect">
            <a:avLst>
              <a:gd fmla="val 10526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9"/>
          <p:cNvSpPr/>
          <p:nvPr/>
        </p:nvSpPr>
        <p:spPr>
          <a:xfrm>
            <a:off x="4238625" y="3810000"/>
            <a:ext cx="3400425" cy="1238250"/>
          </a:xfrm>
          <a:prstGeom prst="roundRect">
            <a:avLst>
              <a:gd fmla="val 9230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9"/>
          <p:cNvSpPr/>
          <p:nvPr/>
        </p:nvSpPr>
        <p:spPr>
          <a:xfrm>
            <a:off x="609600" y="3810000"/>
            <a:ext cx="3400425" cy="1238250"/>
          </a:xfrm>
          <a:prstGeom prst="roundRect">
            <a:avLst>
              <a:gd fmla="val 9230" name="adj"/>
            </a:avLst>
          </a:prstGeom>
          <a:solidFill>
            <a:srgbClr val="1E293B"/>
          </a:solidFill>
          <a:ln cap="flat" cmpd="sng" w="9525">
            <a:solidFill>
              <a:srgbClr val="0F17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19"/>
          <p:cNvSpPr/>
          <p:nvPr/>
        </p:nvSpPr>
        <p:spPr>
          <a:xfrm>
            <a:off x="6867525" y="2809875"/>
            <a:ext cx="457200" cy="457200"/>
          </a:xfrm>
          <a:prstGeom prst="roundRect">
            <a:avLst>
              <a:gd fmla="val 16666" name="adj"/>
            </a:avLst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19"/>
          <p:cNvSpPr/>
          <p:nvPr/>
        </p:nvSpPr>
        <p:spPr>
          <a:xfrm>
            <a:off x="3238500" y="2809875"/>
            <a:ext cx="457200" cy="457200"/>
          </a:xfrm>
          <a:prstGeom prst="roundRect">
            <a:avLst>
              <a:gd fmla="val 16666" name="adj"/>
            </a:avLst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19"/>
          <p:cNvSpPr/>
          <p:nvPr/>
        </p:nvSpPr>
        <p:spPr>
          <a:xfrm>
            <a:off x="6867525" y="4200525"/>
            <a:ext cx="457200" cy="457200"/>
          </a:xfrm>
          <a:prstGeom prst="roundRect">
            <a:avLst>
              <a:gd fmla="val 16666" name="adj"/>
            </a:avLst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9"/>
          <p:cNvSpPr/>
          <p:nvPr/>
        </p:nvSpPr>
        <p:spPr>
          <a:xfrm>
            <a:off x="3329136" y="4200525"/>
            <a:ext cx="366563" cy="457200"/>
          </a:xfrm>
          <a:prstGeom prst="roundRect">
            <a:avLst>
              <a:gd fmla="val 20787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19"/>
          <p:cNvSpPr txBox="1"/>
          <p:nvPr/>
        </p:nvSpPr>
        <p:spPr>
          <a:xfrm>
            <a:off x="-39052" y="609600"/>
            <a:ext cx="116214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F172A"/>
                </a:solidFill>
                <a:latin typeface="Vazirmatn"/>
                <a:ea typeface="Vazirmatn"/>
                <a:cs typeface="Vazirmatn"/>
                <a:sym typeface="Vazirmatn"/>
              </a:rPr>
              <a:t>طراحی آزمایش‌ها و محیط ارزیابی</a:t>
            </a:r>
            <a:endParaRPr/>
          </a:p>
        </p:txBody>
      </p:sp>
      <p:sp>
        <p:nvSpPr>
          <p:cNvPr id="214" name="Google Shape;214;p19"/>
          <p:cNvSpPr txBox="1"/>
          <p:nvPr/>
        </p:nvSpPr>
        <p:spPr>
          <a:xfrm>
            <a:off x="7981950" y="1933575"/>
            <a:ext cx="36006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F172A"/>
                </a:solidFill>
                <a:latin typeface="Vazirmatn"/>
                <a:ea typeface="Vazirmatn"/>
                <a:cs typeface="Vazirmatn"/>
                <a:sym typeface="Vazirmatn"/>
              </a:rPr>
              <a:t>مجموعه‌داده‌ها</a:t>
            </a:r>
            <a:endParaRPr/>
          </a:p>
        </p:txBody>
      </p:sp>
      <p:sp>
        <p:nvSpPr>
          <p:cNvPr id="215" name="Google Shape;215;p19"/>
          <p:cNvSpPr txBox="1"/>
          <p:nvPr/>
        </p:nvSpPr>
        <p:spPr>
          <a:xfrm>
            <a:off x="158115" y="1933575"/>
            <a:ext cx="74808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F172A"/>
                </a:solidFill>
                <a:latin typeface="Vazirmatn"/>
                <a:ea typeface="Vazirmatn"/>
                <a:cs typeface="Vazirmatn"/>
                <a:sym typeface="Vazirmatn"/>
              </a:rPr>
              <a:t>چهار پیکربندی آزمایش</a:t>
            </a:r>
            <a:endParaRPr/>
          </a:p>
        </p:txBody>
      </p:sp>
      <p:sp>
        <p:nvSpPr>
          <p:cNvPr id="216" name="Google Shape;216;p19"/>
          <p:cNvSpPr txBox="1"/>
          <p:nvPr/>
        </p:nvSpPr>
        <p:spPr>
          <a:xfrm>
            <a:off x="8382000" y="2724150"/>
            <a:ext cx="29337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Vazirmatn"/>
                <a:ea typeface="Vazirmatn"/>
                <a:cs typeface="Vazirmatn"/>
                <a:sym typeface="Vazirmatn"/>
              </a:rPr>
              <a:t>Juliet (C/C++)</a:t>
            </a:r>
            <a:endParaRPr/>
          </a:p>
        </p:txBody>
      </p:sp>
      <p:sp>
        <p:nvSpPr>
          <p:cNvPr id="217" name="Google Shape;217;p19"/>
          <p:cNvSpPr txBox="1"/>
          <p:nvPr/>
        </p:nvSpPr>
        <p:spPr>
          <a:xfrm>
            <a:off x="8382000" y="3105150"/>
            <a:ext cx="2933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Vazirmatn"/>
                <a:ea typeface="Vazirmatn"/>
                <a:cs typeface="Vazirmatn"/>
                <a:sym typeface="Vazirmatn"/>
              </a:rPr>
              <a:t>زیرمجموعه ۶۰۰ فایلی متعادل</a:t>
            </a:r>
            <a:endParaRPr/>
          </a:p>
        </p:txBody>
      </p:sp>
      <p:sp>
        <p:nvSpPr>
          <p:cNvPr id="218" name="Google Shape;218;p19"/>
          <p:cNvSpPr txBox="1"/>
          <p:nvPr/>
        </p:nvSpPr>
        <p:spPr>
          <a:xfrm>
            <a:off x="8382000" y="4029075"/>
            <a:ext cx="29337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Vazirmatn"/>
                <a:ea typeface="Vazirmatn"/>
                <a:cs typeface="Vazirmatn"/>
                <a:sym typeface="Vazirmatn"/>
              </a:rPr>
              <a:t>Python Benchmark</a:t>
            </a:r>
            <a:endParaRPr/>
          </a:p>
        </p:txBody>
      </p:sp>
      <p:sp>
        <p:nvSpPr>
          <p:cNvPr id="219" name="Google Shape;219;p19"/>
          <p:cNvSpPr txBox="1"/>
          <p:nvPr/>
        </p:nvSpPr>
        <p:spPr>
          <a:xfrm>
            <a:off x="8382000" y="4410075"/>
            <a:ext cx="2933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Vazirmatn"/>
                <a:ea typeface="Vazirmatn"/>
                <a:cs typeface="Vazirmatn"/>
                <a:sym typeface="Vazirmatn"/>
              </a:rPr>
              <a:t>محک اختصاصی پایتون</a:t>
            </a:r>
            <a:endParaRPr/>
          </a:p>
        </p:txBody>
      </p:sp>
      <p:sp>
        <p:nvSpPr>
          <p:cNvPr id="220" name="Google Shape;220;p19"/>
          <p:cNvSpPr txBox="1"/>
          <p:nvPr/>
        </p:nvSpPr>
        <p:spPr>
          <a:xfrm>
            <a:off x="8382000" y="5334000"/>
            <a:ext cx="29337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Vazirmatn"/>
                <a:ea typeface="Vazirmatn"/>
                <a:cs typeface="Vazirmatn"/>
                <a:sym typeface="Vazirmatn"/>
              </a:rPr>
              <a:t>Devign</a:t>
            </a:r>
            <a:endParaRPr/>
          </a:p>
        </p:txBody>
      </p:sp>
      <p:sp>
        <p:nvSpPr>
          <p:cNvPr id="221" name="Google Shape;221;p19"/>
          <p:cNvSpPr txBox="1"/>
          <p:nvPr/>
        </p:nvSpPr>
        <p:spPr>
          <a:xfrm>
            <a:off x="8382000" y="5715000"/>
            <a:ext cx="2933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Vazirmatn"/>
                <a:ea typeface="Vazirmatn"/>
                <a:cs typeface="Vazirmatn"/>
                <a:sym typeface="Vazirmatn"/>
              </a:rPr>
              <a:t>دیتاست کدهای واقعی</a:t>
            </a:r>
            <a:endParaRPr/>
          </a:p>
        </p:txBody>
      </p:sp>
      <p:sp>
        <p:nvSpPr>
          <p:cNvPr id="222" name="Google Shape;222;p19"/>
          <p:cNvSpPr txBox="1"/>
          <p:nvPr/>
        </p:nvSpPr>
        <p:spPr>
          <a:xfrm>
            <a:off x="6724650" y="2860238"/>
            <a:ext cx="7431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1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F172A"/>
                </a:solidFill>
                <a:latin typeface="Vazirmatn"/>
                <a:ea typeface="Vazirmatn"/>
                <a:cs typeface="Vazirmatn"/>
                <a:sym typeface="Vazirmatn"/>
              </a:rPr>
              <a:t>A</a:t>
            </a:r>
            <a:endParaRPr/>
          </a:p>
        </p:txBody>
      </p:sp>
      <p:sp>
        <p:nvSpPr>
          <p:cNvPr id="223" name="Google Shape;223;p19"/>
          <p:cNvSpPr txBox="1"/>
          <p:nvPr/>
        </p:nvSpPr>
        <p:spPr>
          <a:xfrm>
            <a:off x="4752975" y="2886075"/>
            <a:ext cx="19623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Vazirmatn"/>
                <a:ea typeface="Vazirmatn"/>
                <a:cs typeface="Vazirmatn"/>
                <a:sym typeface="Vazirmatn"/>
              </a:rPr>
              <a:t>فقط تحلیل ایستا </a:t>
            </a:r>
            <a:r>
              <a:rPr b="0" i="0" lang="en-US" sz="1200" u="none" cap="none" strike="noStrike">
                <a:solidFill>
                  <a:srgbClr val="0F172A"/>
                </a:solidFill>
                <a:latin typeface="Vazirmatn"/>
                <a:ea typeface="Vazirmatn"/>
                <a:cs typeface="Vazirmatn"/>
                <a:sym typeface="Vazirmatn"/>
              </a:rPr>
              <a:t>(خط پایه)</a:t>
            </a:r>
            <a:endParaRPr/>
          </a:p>
        </p:txBody>
      </p:sp>
      <p:sp>
        <p:nvSpPr>
          <p:cNvPr id="224" name="Google Shape;224;p19"/>
          <p:cNvSpPr txBox="1"/>
          <p:nvPr/>
        </p:nvSpPr>
        <p:spPr>
          <a:xfrm>
            <a:off x="3095550" y="2895113"/>
            <a:ext cx="7431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1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F172A"/>
                </a:solidFill>
                <a:latin typeface="Vazirmatn"/>
                <a:ea typeface="Vazirmatn"/>
                <a:cs typeface="Vazirmatn"/>
                <a:sym typeface="Vazirmatn"/>
              </a:rPr>
              <a:t>B</a:t>
            </a:r>
            <a:endParaRPr/>
          </a:p>
        </p:txBody>
      </p:sp>
      <p:sp>
        <p:nvSpPr>
          <p:cNvPr id="225" name="Google Shape;225;p19"/>
          <p:cNvSpPr txBox="1"/>
          <p:nvPr/>
        </p:nvSpPr>
        <p:spPr>
          <a:xfrm>
            <a:off x="1295400" y="2886075"/>
            <a:ext cx="17907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Vazirmatn"/>
                <a:ea typeface="Vazirmatn"/>
                <a:cs typeface="Vazirmatn"/>
                <a:sym typeface="Vazirmatn"/>
              </a:rPr>
              <a:t>فقط عامل زبانی (LLM)</a:t>
            </a:r>
            <a:endParaRPr/>
          </a:p>
        </p:txBody>
      </p:sp>
      <p:sp>
        <p:nvSpPr>
          <p:cNvPr id="226" name="Google Shape;226;p19"/>
          <p:cNvSpPr txBox="1"/>
          <p:nvPr/>
        </p:nvSpPr>
        <p:spPr>
          <a:xfrm>
            <a:off x="6724650" y="4253625"/>
            <a:ext cx="7431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1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F172A"/>
                </a:solidFill>
                <a:latin typeface="Vazirmatn"/>
                <a:ea typeface="Vazirmatn"/>
                <a:cs typeface="Vazirmatn"/>
                <a:sym typeface="Vazirmatn"/>
              </a:rPr>
              <a:t>C</a:t>
            </a:r>
            <a:endParaRPr/>
          </a:p>
        </p:txBody>
      </p:sp>
      <p:sp>
        <p:nvSpPr>
          <p:cNvPr id="227" name="Google Shape;227;p19"/>
          <p:cNvSpPr txBox="1"/>
          <p:nvPr/>
        </p:nvSpPr>
        <p:spPr>
          <a:xfrm>
            <a:off x="5257800" y="4276725"/>
            <a:ext cx="14574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Vazirmatn"/>
                <a:ea typeface="Vazirmatn"/>
                <a:cs typeface="Vazirmatn"/>
                <a:sym typeface="Vazirmatn"/>
              </a:rPr>
              <a:t>ایستا + عامل زبانی</a:t>
            </a:r>
            <a:endParaRPr/>
          </a:p>
        </p:txBody>
      </p:sp>
      <p:sp>
        <p:nvSpPr>
          <p:cNvPr id="228" name="Google Shape;228;p19"/>
          <p:cNvSpPr txBox="1"/>
          <p:nvPr/>
        </p:nvSpPr>
        <p:spPr>
          <a:xfrm>
            <a:off x="3186324" y="4290525"/>
            <a:ext cx="6522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1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Vazirmatn"/>
                <a:ea typeface="Vazirmatn"/>
                <a:cs typeface="Vazirmatn"/>
                <a:sym typeface="Vazirmatn"/>
              </a:rPr>
              <a:t>D</a:t>
            </a:r>
            <a:endParaRPr/>
          </a:p>
        </p:txBody>
      </p:sp>
      <p:sp>
        <p:nvSpPr>
          <p:cNvPr id="229" name="Google Shape;229;p19"/>
          <p:cNvSpPr txBox="1"/>
          <p:nvPr/>
        </p:nvSpPr>
        <p:spPr>
          <a:xfrm>
            <a:off x="828675" y="4124325"/>
            <a:ext cx="2348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Vazirmatn"/>
                <a:ea typeface="Vazirmatn"/>
                <a:cs typeface="Vazirmatn"/>
                <a:sym typeface="Vazirmatn"/>
              </a:rPr>
              <a:t>ایستا + عامل زبانی + شواهد ساختاری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20"/>
          <p:cNvSpPr/>
          <p:nvPr/>
        </p:nvSpPr>
        <p:spPr>
          <a:xfrm>
            <a:off x="11125200" y="1295400"/>
            <a:ext cx="457200" cy="28575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20"/>
          <p:cNvSpPr/>
          <p:nvPr/>
        </p:nvSpPr>
        <p:spPr>
          <a:xfrm>
            <a:off x="9415462" y="3562350"/>
            <a:ext cx="762000" cy="1905000"/>
          </a:xfrm>
          <a:prstGeom prst="roundRect">
            <a:avLst>
              <a:gd fmla="val 1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20"/>
          <p:cNvSpPr/>
          <p:nvPr/>
        </p:nvSpPr>
        <p:spPr>
          <a:xfrm>
            <a:off x="7905750" y="5200650"/>
            <a:ext cx="762000" cy="266700"/>
          </a:xfrm>
          <a:prstGeom prst="roundRect">
            <a:avLst>
              <a:gd fmla="val 28571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237" name="Google Shape;237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895850" y="4491037"/>
            <a:ext cx="17145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20"/>
          <p:cNvSpPr txBox="1"/>
          <p:nvPr/>
        </p:nvSpPr>
        <p:spPr>
          <a:xfrm>
            <a:off x="-39052" y="609600"/>
            <a:ext cx="116214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F172A"/>
                </a:solidFill>
                <a:latin typeface="Vazirmatn"/>
                <a:ea typeface="Vazirmatn"/>
                <a:cs typeface="Vazirmatn"/>
                <a:sym typeface="Vazirmatn"/>
              </a:rPr>
              <a:t>نتایج اصلی (کاهش چشمگیر هشدارهای نادرست)</a:t>
            </a:r>
            <a:endParaRPr/>
          </a:p>
        </p:txBody>
      </p:sp>
      <p:sp>
        <p:nvSpPr>
          <p:cNvPr id="239" name="Google Shape;239;p20"/>
          <p:cNvSpPr txBox="1"/>
          <p:nvPr/>
        </p:nvSpPr>
        <p:spPr>
          <a:xfrm>
            <a:off x="7538550" y="6059250"/>
            <a:ext cx="28512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64748B"/>
                </a:solidFill>
                <a:latin typeface="Vazirmatn"/>
                <a:ea typeface="Vazirmatn"/>
                <a:cs typeface="Vazirmatn"/>
                <a:sym typeface="Vazirmatn"/>
              </a:rPr>
              <a:t>نرخ هشدار روی فایل سالم (FPR)</a:t>
            </a:r>
            <a:endParaRPr/>
          </a:p>
        </p:txBody>
      </p:sp>
      <p:sp>
        <p:nvSpPr>
          <p:cNvPr id="240" name="Google Shape;240;p20"/>
          <p:cNvSpPr txBox="1"/>
          <p:nvPr/>
        </p:nvSpPr>
        <p:spPr>
          <a:xfrm>
            <a:off x="-685800" y="2300287"/>
            <a:ext cx="64770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5400">
                <a:solidFill>
                  <a:srgbClr val="DC2626"/>
                </a:solidFill>
                <a:latin typeface="Vazirmatn"/>
                <a:ea typeface="Vazirmatn"/>
                <a:cs typeface="Vazirmatn"/>
                <a:sym typeface="Vazirmatn"/>
              </a:rPr>
              <a:t>۸۶</a:t>
            </a:r>
            <a:r>
              <a:rPr b="1" i="0" lang="en-US" sz="5400" u="none" cap="none" strike="noStrike">
                <a:solidFill>
                  <a:srgbClr val="DC2626"/>
                </a:solidFill>
                <a:latin typeface="Vazirmatn"/>
                <a:ea typeface="Vazirmatn"/>
                <a:cs typeface="Vazirmatn"/>
                <a:sym typeface="Vazirmatn"/>
              </a:rPr>
              <a:t>%</a:t>
            </a:r>
            <a:endParaRPr/>
          </a:p>
        </p:txBody>
      </p:sp>
      <p:sp>
        <p:nvSpPr>
          <p:cNvPr id="241" name="Google Shape;241;p20"/>
          <p:cNvSpPr txBox="1"/>
          <p:nvPr/>
        </p:nvSpPr>
        <p:spPr>
          <a:xfrm>
            <a:off x="250507" y="3100387"/>
            <a:ext cx="55407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0F172A"/>
                </a:solidFill>
                <a:latin typeface="Vazirmatn"/>
                <a:ea typeface="Vazirmatn"/>
                <a:cs typeface="Vazirmatn"/>
                <a:sym typeface="Vazirmatn"/>
              </a:rPr>
              <a:t>کاهش هشدارها</a:t>
            </a:r>
            <a:endParaRPr/>
          </a:p>
        </p:txBody>
      </p:sp>
      <p:sp>
        <p:nvSpPr>
          <p:cNvPr id="242" name="Google Shape;242;p20"/>
          <p:cNvSpPr txBox="1"/>
          <p:nvPr/>
        </p:nvSpPr>
        <p:spPr>
          <a:xfrm>
            <a:off x="514350" y="3595687"/>
            <a:ext cx="52770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Vazirmatn"/>
                <a:ea typeface="Vazirmatn"/>
                <a:cs typeface="Vazirmatn"/>
                <a:sym typeface="Vazirmatn"/>
              </a:rPr>
              <a:t>نرخ هشدار کاذب از ۰٫۰۵۰ به ۰٫۰۰۷ رسید.</a:t>
            </a:r>
            <a:endParaRPr/>
          </a:p>
        </p:txBody>
      </p:sp>
      <p:sp>
        <p:nvSpPr>
          <p:cNvPr id="243" name="Google Shape;243;p20"/>
          <p:cNvSpPr txBox="1"/>
          <p:nvPr/>
        </p:nvSpPr>
        <p:spPr>
          <a:xfrm>
            <a:off x="250507" y="4929187"/>
            <a:ext cx="55407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0F172A"/>
                </a:solidFill>
                <a:latin typeface="Vazirmatn"/>
                <a:ea typeface="Vazirmatn"/>
                <a:cs typeface="Vazirmatn"/>
                <a:sym typeface="Vazirmatn"/>
              </a:rPr>
              <a:t>افزایش دقت (Precision)</a:t>
            </a:r>
            <a:endParaRPr/>
          </a:p>
        </p:txBody>
      </p:sp>
      <p:sp>
        <p:nvSpPr>
          <p:cNvPr id="244" name="Google Shape;244;p20"/>
          <p:cNvSpPr txBox="1"/>
          <p:nvPr/>
        </p:nvSpPr>
        <p:spPr>
          <a:xfrm>
            <a:off x="514350" y="5424487"/>
            <a:ext cx="52770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Vazirmatn"/>
                <a:ea typeface="Vazirmatn"/>
                <a:cs typeface="Vazirmatn"/>
                <a:sym typeface="Vazirmatn"/>
              </a:rPr>
              <a:t>ارتقای چشمگیر در شناسایی باگ‌های واقعی.</a:t>
            </a:r>
            <a:endParaRPr/>
          </a:p>
        </p:txBody>
      </p:sp>
      <p:sp>
        <p:nvSpPr>
          <p:cNvPr id="245" name="Google Shape;245;p20"/>
          <p:cNvSpPr txBox="1"/>
          <p:nvPr/>
        </p:nvSpPr>
        <p:spPr>
          <a:xfrm>
            <a:off x="9420225" y="3086100"/>
            <a:ext cx="6573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475569"/>
                </a:solidFill>
                <a:latin typeface="Vazirmatn"/>
                <a:ea typeface="Vazirmatn"/>
                <a:cs typeface="Vazirmatn"/>
                <a:sym typeface="Vazirmatn"/>
              </a:rPr>
              <a:t>۰٫۰۵۰</a:t>
            </a:r>
            <a:endParaRPr/>
          </a:p>
        </p:txBody>
      </p:sp>
      <p:sp>
        <p:nvSpPr>
          <p:cNvPr id="246" name="Google Shape;246;p20"/>
          <p:cNvSpPr txBox="1"/>
          <p:nvPr/>
        </p:nvSpPr>
        <p:spPr>
          <a:xfrm>
            <a:off x="9224962" y="5581650"/>
            <a:ext cx="10479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Vazirmatn"/>
                <a:ea typeface="Vazirmatn"/>
                <a:cs typeface="Vazirmatn"/>
                <a:sym typeface="Vazirmatn"/>
              </a:rPr>
              <a:t>ابزارهای سنتی</a:t>
            </a:r>
            <a:endParaRPr/>
          </a:p>
        </p:txBody>
      </p:sp>
      <p:sp>
        <p:nvSpPr>
          <p:cNvPr id="247" name="Google Shape;247;p20"/>
          <p:cNvSpPr txBox="1"/>
          <p:nvPr/>
        </p:nvSpPr>
        <p:spPr>
          <a:xfrm>
            <a:off x="7910512" y="4724400"/>
            <a:ext cx="6573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EA580C"/>
                </a:solidFill>
                <a:latin typeface="Vazirmatn"/>
                <a:ea typeface="Vazirmatn"/>
                <a:cs typeface="Vazirmatn"/>
                <a:sym typeface="Vazirmatn"/>
              </a:rPr>
              <a:t>۰٫۰۰۷</a:t>
            </a:r>
            <a:endParaRPr/>
          </a:p>
        </p:txBody>
      </p:sp>
      <p:sp>
        <p:nvSpPr>
          <p:cNvPr id="248" name="Google Shape;248;p20"/>
          <p:cNvSpPr txBox="1"/>
          <p:nvPr/>
        </p:nvSpPr>
        <p:spPr>
          <a:xfrm>
            <a:off x="7615237" y="5581650"/>
            <a:ext cx="12477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Vazirmatn"/>
                <a:ea typeface="Vazirmatn"/>
                <a:cs typeface="Vazirmatn"/>
                <a:sym typeface="Vazirmatn"/>
              </a:rPr>
              <a:t>codey-security</a:t>
            </a:r>
            <a:endParaRPr/>
          </a:p>
        </p:txBody>
      </p:sp>
      <p:sp>
        <p:nvSpPr>
          <p:cNvPr id="249" name="Google Shape;249;p20"/>
          <p:cNvSpPr txBox="1"/>
          <p:nvPr/>
        </p:nvSpPr>
        <p:spPr>
          <a:xfrm>
            <a:off x="3581400" y="4357687"/>
            <a:ext cx="11622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6A34A"/>
                </a:solidFill>
                <a:latin typeface="Vazirmatn"/>
                <a:ea typeface="Vazirmatn"/>
                <a:cs typeface="Vazirmatn"/>
                <a:sym typeface="Vazirmatn"/>
              </a:rPr>
              <a:t>۶۰</a:t>
            </a:r>
            <a:r>
              <a:rPr b="1" i="0" lang="en-US" sz="3600" u="none" cap="none" strike="noStrike">
                <a:solidFill>
                  <a:srgbClr val="16A34A"/>
                </a:solidFill>
                <a:latin typeface="Vazirmatn"/>
                <a:ea typeface="Vazirmatn"/>
                <a:cs typeface="Vazirmatn"/>
                <a:sym typeface="Vazirmatn"/>
              </a:rPr>
              <a:t>%</a:t>
            </a:r>
            <a:endParaRPr/>
          </a:p>
        </p:txBody>
      </p:sp>
      <p:sp>
        <p:nvSpPr>
          <p:cNvPr id="250" name="Google Shape;250;p20"/>
          <p:cNvSpPr txBox="1"/>
          <p:nvPr/>
        </p:nvSpPr>
        <p:spPr>
          <a:xfrm>
            <a:off x="4933950" y="4462462"/>
            <a:ext cx="8574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0F172A"/>
                </a:solidFill>
                <a:latin typeface="Vazirmatn"/>
                <a:ea typeface="Vazirmatn"/>
                <a:cs typeface="Vazirmatn"/>
                <a:sym typeface="Vazirmatn"/>
              </a:rPr>
              <a:t>۳۶</a:t>
            </a:r>
            <a:r>
              <a:rPr b="1" i="0" lang="en-US" sz="2400" u="none" cap="none" strike="noStrike">
                <a:solidFill>
                  <a:srgbClr val="0F172A"/>
                </a:solidFill>
                <a:latin typeface="Vazirmatn"/>
                <a:ea typeface="Vazirmatn"/>
                <a:cs typeface="Vazirmatn"/>
                <a:sym typeface="Vazirmatn"/>
              </a:rPr>
              <a:t>%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21"/>
          <p:cNvSpPr/>
          <p:nvPr/>
        </p:nvSpPr>
        <p:spPr>
          <a:xfrm>
            <a:off x="2438400" y="3590925"/>
            <a:ext cx="7315200" cy="1562100"/>
          </a:xfrm>
          <a:prstGeom prst="roundRect">
            <a:avLst>
              <a:gd fmla="val 9756" name="adj"/>
            </a:avLst>
          </a:prstGeom>
          <a:solidFill>
            <a:srgbClr val="F8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21"/>
          <p:cNvSpPr/>
          <p:nvPr/>
        </p:nvSpPr>
        <p:spPr>
          <a:xfrm>
            <a:off x="9696450" y="3590925"/>
            <a:ext cx="57150" cy="15621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21"/>
          <p:cNvSpPr txBox="1"/>
          <p:nvPr/>
        </p:nvSpPr>
        <p:spPr>
          <a:xfrm>
            <a:off x="-39052" y="609600"/>
            <a:ext cx="116214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F172A"/>
                </a:solidFill>
                <a:latin typeface="Vazirmatn"/>
                <a:ea typeface="Vazirmatn"/>
                <a:cs typeface="Vazirmatn"/>
                <a:sym typeface="Vazirmatn"/>
              </a:rPr>
              <a:t>تحلیل قیف تصمیم (مبادلهٔ دقت و یادآوری)</a:t>
            </a:r>
            <a:endParaRPr/>
          </a:p>
        </p:txBody>
      </p:sp>
      <p:sp>
        <p:nvSpPr>
          <p:cNvPr id="258" name="Google Shape;258;p21"/>
          <p:cNvSpPr txBox="1"/>
          <p:nvPr/>
        </p:nvSpPr>
        <p:spPr>
          <a:xfrm>
            <a:off x="3445668" y="1905000"/>
            <a:ext cx="53007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64748B"/>
                </a:solidFill>
                <a:latin typeface="Vazirmatn"/>
                <a:ea typeface="Vazirmatn"/>
                <a:cs typeface="Vazirmatn"/>
                <a:sym typeface="Vazirmatn"/>
              </a:rPr>
              <a:t>بهای کاهش هشدارها: افت یادآوری (Recall)</a:t>
            </a:r>
            <a:endParaRPr/>
          </a:p>
        </p:txBody>
      </p:sp>
      <p:sp>
        <p:nvSpPr>
          <p:cNvPr id="259" name="Google Shape;259;p21"/>
          <p:cNvSpPr txBox="1"/>
          <p:nvPr/>
        </p:nvSpPr>
        <p:spPr>
          <a:xfrm>
            <a:off x="3571875" y="2419350"/>
            <a:ext cx="50484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0F172A"/>
                </a:solidFill>
                <a:latin typeface="Vazirmatn"/>
                <a:ea typeface="Vazirmatn"/>
                <a:cs typeface="Vazirmatn"/>
                <a:sym typeface="Vazirmatn"/>
              </a:rPr>
              <a:t>۰.۰۱۰</a:t>
            </a:r>
            <a:r>
              <a:rPr b="1" i="0" lang="en-US" sz="3600" u="none" cap="none" strike="noStrike">
                <a:solidFill>
                  <a:srgbClr val="0F172A"/>
                </a:solidFill>
                <a:latin typeface="Vazirmatn"/>
                <a:ea typeface="Vazirmatn"/>
                <a:cs typeface="Vazirmatn"/>
                <a:sym typeface="Vazirmatn"/>
              </a:rPr>
              <a:t> → </a:t>
            </a:r>
            <a:r>
              <a:rPr b="1" lang="en-US" sz="3600">
                <a:solidFill>
                  <a:srgbClr val="0F172A"/>
                </a:solidFill>
                <a:latin typeface="Vazirmatn"/>
                <a:ea typeface="Vazirmatn"/>
                <a:cs typeface="Vazirmatn"/>
                <a:sym typeface="Vazirmatn"/>
              </a:rPr>
              <a:t>۰.۰۳۷</a:t>
            </a:r>
            <a:endParaRPr/>
          </a:p>
        </p:txBody>
      </p:sp>
      <p:sp>
        <p:nvSpPr>
          <p:cNvPr id="260" name="Google Shape;260;p21"/>
          <p:cNvSpPr txBox="1"/>
          <p:nvPr/>
        </p:nvSpPr>
        <p:spPr>
          <a:xfrm>
            <a:off x="7991475" y="3895725"/>
            <a:ext cx="12477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800">
                <a:solidFill>
                  <a:srgbClr val="EA580C"/>
                </a:solidFill>
                <a:latin typeface="Vazirmatn"/>
                <a:ea typeface="Vazirmatn"/>
                <a:cs typeface="Vazirmatn"/>
                <a:sym typeface="Vazirmatn"/>
              </a:rPr>
              <a:t>۴۲</a:t>
            </a:r>
            <a:r>
              <a:rPr b="1" i="0" lang="en-US" sz="4800" u="none" cap="none" strike="noStrike">
                <a:solidFill>
                  <a:srgbClr val="EA580C"/>
                </a:solidFill>
                <a:latin typeface="Vazirmatn"/>
                <a:ea typeface="Vazirmatn"/>
                <a:cs typeface="Vazirmatn"/>
                <a:sym typeface="Vazirmatn"/>
              </a:rPr>
              <a:t>%</a:t>
            </a:r>
            <a:endParaRPr/>
          </a:p>
        </p:txBody>
      </p:sp>
      <p:sp>
        <p:nvSpPr>
          <p:cNvPr id="261" name="Google Shape;261;p21"/>
          <p:cNvSpPr txBox="1"/>
          <p:nvPr/>
        </p:nvSpPr>
        <p:spPr>
          <a:xfrm>
            <a:off x="1333500" y="5610225"/>
            <a:ext cx="95250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1E293B"/>
                </a:solidFill>
                <a:latin typeface="Vazirmatn"/>
                <a:ea typeface="Vazirmatn"/>
                <a:cs typeface="Vazirmatn"/>
                <a:sym typeface="Vazirmatn"/>
              </a:rPr>
              <a:t>نتیجه‌گیری: سیستم یک شکستِ ایمن (Safe-Fail) را به یک تأیید توهم‌گونه ترجیح می‌دهد.</a:t>
            </a:r>
            <a:endParaRPr/>
          </a:p>
        </p:txBody>
      </p:sp>
      <p:sp>
        <p:nvSpPr>
          <p:cNvPr id="262" name="Google Shape;262;p21"/>
          <p:cNvSpPr txBox="1"/>
          <p:nvPr/>
        </p:nvSpPr>
        <p:spPr>
          <a:xfrm>
            <a:off x="2547461" y="4000500"/>
            <a:ext cx="53106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F172A"/>
                </a:solidFill>
                <a:latin typeface="Vazirmatn"/>
                <a:ea typeface="Vazirmatn"/>
                <a:cs typeface="Vazirmatn"/>
                <a:sym typeface="Vazirmatn"/>
              </a:rPr>
              <a:t>بسته شدن پرونده‌ها با وضعیت نامطمئن</a:t>
            </a:r>
            <a:endParaRPr/>
          </a:p>
        </p:txBody>
      </p:sp>
      <p:sp>
        <p:nvSpPr>
          <p:cNvPr id="263" name="Google Shape;263;p21"/>
          <p:cNvSpPr txBox="1"/>
          <p:nvPr/>
        </p:nvSpPr>
        <p:spPr>
          <a:xfrm>
            <a:off x="2800350" y="4438650"/>
            <a:ext cx="50577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Vazirmatn"/>
                <a:ea typeface="Vazirmatn"/>
                <a:cs typeface="Vazirmatn"/>
                <a:sym typeface="Vazirmatn"/>
              </a:rPr>
              <a:t>دلیل افت Recall اشتباه مدل نیست، بلکه اعلام عدم قطعیت است.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22"/>
          <p:cNvSpPr/>
          <p:nvPr/>
        </p:nvSpPr>
        <p:spPr>
          <a:xfrm>
            <a:off x="11125200" y="1295400"/>
            <a:ext cx="457200" cy="28575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22"/>
          <p:cNvSpPr/>
          <p:nvPr/>
        </p:nvSpPr>
        <p:spPr>
          <a:xfrm>
            <a:off x="8127950" y="1933575"/>
            <a:ext cx="3454449" cy="4314825"/>
          </a:xfrm>
          <a:prstGeom prst="roundRect">
            <a:avLst>
              <a:gd fmla="val 3308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22"/>
          <p:cNvSpPr/>
          <p:nvPr/>
        </p:nvSpPr>
        <p:spPr>
          <a:xfrm>
            <a:off x="4368700" y="1933575"/>
            <a:ext cx="3454449" cy="4314825"/>
          </a:xfrm>
          <a:prstGeom prst="roundRect">
            <a:avLst>
              <a:gd fmla="val 3308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22"/>
          <p:cNvSpPr/>
          <p:nvPr/>
        </p:nvSpPr>
        <p:spPr>
          <a:xfrm>
            <a:off x="609451" y="1933575"/>
            <a:ext cx="3454449" cy="4314825"/>
          </a:xfrm>
          <a:prstGeom prst="roundRect">
            <a:avLst>
              <a:gd fmla="val 3308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272" name="Google Shape;272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432750" y="2314575"/>
            <a:ext cx="2844849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3" name="Google Shape;273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673500" y="2314575"/>
            <a:ext cx="2844849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4" name="Google Shape;274;p2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14251" y="2314575"/>
            <a:ext cx="2844849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5" name="Google Shape;275;p22"/>
          <p:cNvSpPr txBox="1"/>
          <p:nvPr/>
        </p:nvSpPr>
        <p:spPr>
          <a:xfrm>
            <a:off x="-39052" y="609600"/>
            <a:ext cx="116214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F172A"/>
                </a:solidFill>
                <a:latin typeface="Vazirmatn"/>
                <a:ea typeface="Vazirmatn"/>
                <a:cs typeface="Vazirmatn"/>
                <a:sym typeface="Vazirmatn"/>
              </a:rPr>
              <a:t>اثر شواهد ساختاری و بررسی‌های تکمیلی</a:t>
            </a:r>
            <a:endParaRPr/>
          </a:p>
        </p:txBody>
      </p:sp>
      <p:sp>
        <p:nvSpPr>
          <p:cNvPr id="276" name="Google Shape;276;p22"/>
          <p:cNvSpPr txBox="1"/>
          <p:nvPr/>
        </p:nvSpPr>
        <p:spPr>
          <a:xfrm>
            <a:off x="8190495" y="2924175"/>
            <a:ext cx="30870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F172A"/>
                </a:solidFill>
                <a:latin typeface="Vazirmatn"/>
                <a:ea typeface="Vazirmatn"/>
                <a:cs typeface="Vazirmatn"/>
                <a:sym typeface="Vazirmatn"/>
              </a:rPr>
              <a:t>تأثیر شواهد ساختاری (AST)</a:t>
            </a:r>
            <a:endParaRPr/>
          </a:p>
        </p:txBody>
      </p:sp>
      <p:sp>
        <p:nvSpPr>
          <p:cNvPr id="277" name="Google Shape;277;p22"/>
          <p:cNvSpPr txBox="1"/>
          <p:nvPr/>
        </p:nvSpPr>
        <p:spPr>
          <a:xfrm>
            <a:off x="7721537" y="3438525"/>
            <a:ext cx="35562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Vazirmatn"/>
                <a:ea typeface="Vazirmatn"/>
                <a:cs typeface="Vazirmatn"/>
                <a:sym typeface="Vazirmatn"/>
              </a:rPr>
              <a:t>کاهش عدم قطعیت.</a:t>
            </a:r>
            <a:endParaRPr/>
          </a:p>
        </p:txBody>
      </p:sp>
      <p:sp>
        <p:nvSpPr>
          <p:cNvPr id="278" name="Google Shape;278;p22"/>
          <p:cNvSpPr txBox="1"/>
          <p:nvPr/>
        </p:nvSpPr>
        <p:spPr>
          <a:xfrm>
            <a:off x="8337500" y="5505450"/>
            <a:ext cx="29400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6A34A"/>
                </a:solidFill>
                <a:latin typeface="Vazirmatn"/>
                <a:ea typeface="Vazirmatn"/>
                <a:cs typeface="Vazirmatn"/>
                <a:sym typeface="Vazirmatn"/>
              </a:rPr>
              <a:t>۵</a:t>
            </a:r>
            <a:r>
              <a:rPr b="1" i="0" lang="en-US" sz="1800" u="none" cap="none" strike="noStrike">
                <a:solidFill>
                  <a:srgbClr val="16A34A"/>
                </a:solidFill>
                <a:latin typeface="Vazirmatn"/>
                <a:ea typeface="Vazirmatn"/>
                <a:cs typeface="Vazirmatn"/>
                <a:sym typeface="Vazirmatn"/>
              </a:rPr>
              <a:t> → </a:t>
            </a:r>
            <a:r>
              <a:rPr b="1" lang="en-US" sz="1800">
                <a:solidFill>
                  <a:srgbClr val="16A34A"/>
                </a:solidFill>
                <a:latin typeface="Vazirmatn"/>
                <a:ea typeface="Vazirmatn"/>
                <a:cs typeface="Vazirmatn"/>
                <a:sym typeface="Vazirmatn"/>
              </a:rPr>
              <a:t>۱۱</a:t>
            </a:r>
            <a:r>
              <a:rPr b="1" i="0" lang="en-US" sz="1800" u="none" cap="none" strike="noStrike">
                <a:solidFill>
                  <a:srgbClr val="16A34A"/>
                </a:solidFill>
                <a:latin typeface="Vazirmatn"/>
                <a:ea typeface="Vazirmatn"/>
                <a:cs typeface="Vazirmatn"/>
                <a:sym typeface="Vazirmatn"/>
              </a:rPr>
              <a:t> تأیید صحیح</a:t>
            </a:r>
            <a:endParaRPr/>
          </a:p>
        </p:txBody>
      </p:sp>
      <p:sp>
        <p:nvSpPr>
          <p:cNvPr id="279" name="Google Shape;279;p22"/>
          <p:cNvSpPr txBox="1"/>
          <p:nvPr/>
        </p:nvSpPr>
        <p:spPr>
          <a:xfrm>
            <a:off x="4431245" y="2924175"/>
            <a:ext cx="30870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F172A"/>
                </a:solidFill>
                <a:latin typeface="Vazirmatn"/>
                <a:ea typeface="Vazirmatn"/>
                <a:cs typeface="Vazirmatn"/>
                <a:sym typeface="Vazirmatn"/>
              </a:rPr>
              <a:t>سرریز عدد صحیح</a:t>
            </a:r>
            <a:endParaRPr/>
          </a:p>
        </p:txBody>
      </p:sp>
      <p:sp>
        <p:nvSpPr>
          <p:cNvPr id="280" name="Google Shape;280;p22"/>
          <p:cNvSpPr txBox="1"/>
          <p:nvPr/>
        </p:nvSpPr>
        <p:spPr>
          <a:xfrm>
            <a:off x="4578250" y="3438525"/>
            <a:ext cx="29400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Vazirmatn"/>
                <a:ea typeface="Vazirmatn"/>
                <a:cs typeface="Vazirmatn"/>
                <a:sym typeface="Vazirmatn"/>
              </a:rPr>
              <a:t>ضعف مطلق ابزارهای ایستا (یادآوری صفر).</a:t>
            </a:r>
            <a:endParaRPr/>
          </a:p>
        </p:txBody>
      </p:sp>
      <p:sp>
        <p:nvSpPr>
          <p:cNvPr id="281" name="Google Shape;281;p22"/>
          <p:cNvSpPr txBox="1"/>
          <p:nvPr/>
        </p:nvSpPr>
        <p:spPr>
          <a:xfrm>
            <a:off x="4578250" y="4162425"/>
            <a:ext cx="29400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Vazirmatn"/>
                <a:ea typeface="Vazirmatn"/>
                <a:cs typeface="Vazirmatn"/>
                <a:sym typeface="Vazirmatn"/>
              </a:rPr>
              <a:t>توانایی بالای مدل زبانی در تشخیص (پیکربندی B).</a:t>
            </a:r>
            <a:endParaRPr/>
          </a:p>
        </p:txBody>
      </p:sp>
      <p:sp>
        <p:nvSpPr>
          <p:cNvPr id="282" name="Google Shape;282;p22"/>
          <p:cNvSpPr txBox="1"/>
          <p:nvPr/>
        </p:nvSpPr>
        <p:spPr>
          <a:xfrm>
            <a:off x="671996" y="2924175"/>
            <a:ext cx="30870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F172A"/>
                </a:solidFill>
                <a:latin typeface="Vazirmatn"/>
                <a:ea typeface="Vazirmatn"/>
                <a:cs typeface="Vazirmatn"/>
                <a:sym typeface="Vazirmatn"/>
              </a:rPr>
              <a:t>موتور قطعی پایتون</a:t>
            </a:r>
            <a:endParaRPr/>
          </a:p>
        </p:txBody>
      </p:sp>
      <p:sp>
        <p:nvSpPr>
          <p:cNvPr id="283" name="Google Shape;283;p22"/>
          <p:cNvSpPr txBox="1"/>
          <p:nvPr/>
        </p:nvSpPr>
        <p:spPr>
          <a:xfrm>
            <a:off x="203038" y="3438525"/>
            <a:ext cx="35562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Vazirmatn"/>
                <a:ea typeface="Vazirmatn"/>
                <a:cs typeface="Vazirmatn"/>
                <a:sym typeface="Vazirmatn"/>
              </a:rPr>
              <a:t>عملکرد درخشان در محک کنترل‌شده.</a:t>
            </a:r>
            <a:endParaRPr/>
          </a:p>
        </p:txBody>
      </p:sp>
      <p:sp>
        <p:nvSpPr>
          <p:cNvPr id="284" name="Google Shape;284;p22"/>
          <p:cNvSpPr txBox="1"/>
          <p:nvPr/>
        </p:nvSpPr>
        <p:spPr>
          <a:xfrm>
            <a:off x="819001" y="5334000"/>
            <a:ext cx="29400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0F172A"/>
                </a:solidFill>
                <a:latin typeface="Vazirmatn"/>
                <a:ea typeface="Vazirmatn"/>
                <a:cs typeface="Vazirmatn"/>
                <a:sym typeface="Vazirmatn"/>
              </a:rPr>
              <a:t>۹۶</a:t>
            </a:r>
            <a:r>
              <a:rPr b="1" i="0" lang="en-US" sz="2700" u="none" cap="none" strike="noStrike">
                <a:solidFill>
                  <a:srgbClr val="0F172A"/>
                </a:solidFill>
                <a:latin typeface="Vazirmatn"/>
                <a:ea typeface="Vazirmatn"/>
                <a:cs typeface="Vazirmatn"/>
                <a:sym typeface="Vazirmatn"/>
              </a:rPr>
              <a:t>% </a:t>
            </a:r>
            <a:r>
              <a:rPr b="0" i="0" lang="en-US" sz="1500" u="none" cap="none" strike="noStrike">
                <a:solidFill>
                  <a:srgbClr val="64748B"/>
                </a:solidFill>
                <a:latin typeface="Vazirmatn"/>
                <a:ea typeface="Vazirmatn"/>
                <a:cs typeface="Vazirmatn"/>
                <a:sym typeface="Vazirmatn"/>
              </a:rPr>
              <a:t>دقت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23"/>
          <p:cNvSpPr/>
          <p:nvPr/>
        </p:nvSpPr>
        <p:spPr>
          <a:xfrm>
            <a:off x="11125200" y="1295400"/>
            <a:ext cx="457200" cy="28575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23"/>
          <p:cNvSpPr/>
          <p:nvPr/>
        </p:nvSpPr>
        <p:spPr>
          <a:xfrm>
            <a:off x="609600" y="1781175"/>
            <a:ext cx="10972800" cy="1381125"/>
          </a:xfrm>
          <a:prstGeom prst="roundRect">
            <a:avLst>
              <a:gd fmla="val 8275" name="adj"/>
            </a:avLst>
          </a:prstGeom>
          <a:solidFill>
            <a:srgbClr val="F8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23"/>
          <p:cNvSpPr/>
          <p:nvPr/>
        </p:nvSpPr>
        <p:spPr>
          <a:xfrm>
            <a:off x="11544300" y="1781175"/>
            <a:ext cx="38100" cy="13811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23"/>
          <p:cNvSpPr/>
          <p:nvPr/>
        </p:nvSpPr>
        <p:spPr>
          <a:xfrm>
            <a:off x="11201400" y="4286250"/>
            <a:ext cx="381000" cy="381000"/>
          </a:xfrm>
          <a:prstGeom prst="roundRect">
            <a:avLst>
              <a:gd fmla="val 50000" name="adj"/>
            </a:avLst>
          </a:prstGeom>
          <a:solidFill>
            <a:srgbClr val="E0F2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23"/>
          <p:cNvSpPr/>
          <p:nvPr/>
        </p:nvSpPr>
        <p:spPr>
          <a:xfrm>
            <a:off x="7467600" y="4286250"/>
            <a:ext cx="381000" cy="381000"/>
          </a:xfrm>
          <a:prstGeom prst="roundRect">
            <a:avLst>
              <a:gd fmla="val 50000" name="adj"/>
            </a:avLst>
          </a:prstGeom>
          <a:solidFill>
            <a:srgbClr val="E0F2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23"/>
          <p:cNvSpPr/>
          <p:nvPr/>
        </p:nvSpPr>
        <p:spPr>
          <a:xfrm>
            <a:off x="3733800" y="4286250"/>
            <a:ext cx="381000" cy="381000"/>
          </a:xfrm>
          <a:prstGeom prst="roundRect">
            <a:avLst>
              <a:gd fmla="val 50000" name="adj"/>
            </a:avLst>
          </a:prstGeom>
          <a:solidFill>
            <a:srgbClr val="E0F2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23"/>
          <p:cNvSpPr txBox="1"/>
          <p:nvPr/>
        </p:nvSpPr>
        <p:spPr>
          <a:xfrm>
            <a:off x="-39052" y="609600"/>
            <a:ext cx="116214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F172A"/>
                </a:solidFill>
                <a:latin typeface="Vazirmatn"/>
                <a:ea typeface="Vazirmatn"/>
                <a:cs typeface="Vazirmatn"/>
                <a:sym typeface="Vazirmatn"/>
              </a:rPr>
              <a:t>نتیجه‌گیری و کارهای آینده</a:t>
            </a:r>
            <a:endParaRPr/>
          </a:p>
        </p:txBody>
      </p:sp>
      <p:sp>
        <p:nvSpPr>
          <p:cNvPr id="296" name="Google Shape;296;p23"/>
          <p:cNvSpPr txBox="1"/>
          <p:nvPr/>
        </p:nvSpPr>
        <p:spPr>
          <a:xfrm>
            <a:off x="-39052" y="3619500"/>
            <a:ext cx="116214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F172A"/>
                </a:solidFill>
                <a:latin typeface="Vazirmatn"/>
                <a:ea typeface="Vazirmatn"/>
                <a:cs typeface="Vazirmatn"/>
                <a:sym typeface="Vazirmatn"/>
              </a:rPr>
              <a:t>گام‌های بعدی</a:t>
            </a:r>
            <a:endParaRPr/>
          </a:p>
        </p:txBody>
      </p:sp>
      <p:sp>
        <p:nvSpPr>
          <p:cNvPr id="297" name="Google Shape;297;p23"/>
          <p:cNvSpPr txBox="1"/>
          <p:nvPr/>
        </p:nvSpPr>
        <p:spPr>
          <a:xfrm>
            <a:off x="298132" y="2085975"/>
            <a:ext cx="109413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F172A"/>
                </a:solidFill>
                <a:latin typeface="Vazirmatn"/>
                <a:ea typeface="Vazirmatn"/>
                <a:cs typeface="Vazirmatn"/>
                <a:sym typeface="Vazirmatn"/>
              </a:rPr>
              <a:t>نتیجه‌گیری نهایی</a:t>
            </a:r>
            <a:endParaRPr/>
          </a:p>
        </p:txBody>
      </p:sp>
      <p:sp>
        <p:nvSpPr>
          <p:cNvPr id="298" name="Google Shape;298;p23"/>
          <p:cNvSpPr txBox="1"/>
          <p:nvPr/>
        </p:nvSpPr>
        <p:spPr>
          <a:xfrm>
            <a:off x="819150" y="2524125"/>
            <a:ext cx="104205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475569"/>
                </a:solidFill>
                <a:latin typeface="Vazirmatn"/>
                <a:ea typeface="Vazirmatn"/>
                <a:cs typeface="Vazirmatn"/>
                <a:sym typeface="Vazirmatn"/>
              </a:rPr>
              <a:t>معماری codey-security نقطهٔ کاری متعادلی برای سازمان‌های درگیر با هشدار کاذب است.</a:t>
            </a:r>
            <a:endParaRPr/>
          </a:p>
        </p:txBody>
      </p:sp>
      <p:sp>
        <p:nvSpPr>
          <p:cNvPr id="299" name="Google Shape;299;p23"/>
          <p:cNvSpPr txBox="1"/>
          <p:nvPr/>
        </p:nvSpPr>
        <p:spPr>
          <a:xfrm>
            <a:off x="11058525" y="4371443"/>
            <a:ext cx="6669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1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284C7"/>
                </a:solidFill>
                <a:latin typeface="Vazirmatn"/>
                <a:ea typeface="Vazirmatn"/>
                <a:cs typeface="Vazirmatn"/>
                <a:sym typeface="Vazirmatn"/>
              </a:rPr>
              <a:t>۱</a:t>
            </a:r>
            <a:endParaRPr/>
          </a:p>
        </p:txBody>
      </p:sp>
      <p:sp>
        <p:nvSpPr>
          <p:cNvPr id="300" name="Google Shape;300;p23"/>
          <p:cNvSpPr txBox="1"/>
          <p:nvPr/>
        </p:nvSpPr>
        <p:spPr>
          <a:xfrm>
            <a:off x="7981950" y="4286250"/>
            <a:ext cx="3067200" cy="63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1E293B"/>
                </a:solidFill>
                <a:latin typeface="Vazirmatn"/>
                <a:ea typeface="Vazirmatn"/>
                <a:cs typeface="Vazirmatn"/>
                <a:sym typeface="Vazirmatn"/>
              </a:rPr>
              <a:t>جایگزینی قطعه‌کد محدود با کل مسیر جریان داده (Dataflow Path).</a:t>
            </a:r>
            <a:endParaRPr/>
          </a:p>
        </p:txBody>
      </p:sp>
      <p:sp>
        <p:nvSpPr>
          <p:cNvPr id="301" name="Google Shape;301;p23"/>
          <p:cNvSpPr txBox="1"/>
          <p:nvPr/>
        </p:nvSpPr>
        <p:spPr>
          <a:xfrm>
            <a:off x="7324725" y="4384348"/>
            <a:ext cx="6669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1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284C7"/>
                </a:solidFill>
                <a:latin typeface="Vazirmatn"/>
                <a:ea typeface="Vazirmatn"/>
                <a:cs typeface="Vazirmatn"/>
                <a:sym typeface="Vazirmatn"/>
              </a:rPr>
              <a:t>۲</a:t>
            </a:r>
            <a:endParaRPr/>
          </a:p>
        </p:txBody>
      </p:sp>
      <p:sp>
        <p:nvSpPr>
          <p:cNvPr id="302" name="Google Shape;302;p23"/>
          <p:cNvSpPr txBox="1"/>
          <p:nvPr/>
        </p:nvSpPr>
        <p:spPr>
          <a:xfrm>
            <a:off x="4248150" y="4286250"/>
            <a:ext cx="3067200" cy="63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1E293B"/>
                </a:solidFill>
                <a:latin typeface="Vazirmatn"/>
                <a:ea typeface="Vazirmatn"/>
                <a:cs typeface="Vazirmatn"/>
                <a:sym typeface="Vazirmatn"/>
              </a:rPr>
              <a:t>ساخت داشبورد انسانی برای بررسی سریع خروجی‌های «نامطمئن».</a:t>
            </a:r>
            <a:endParaRPr/>
          </a:p>
        </p:txBody>
      </p:sp>
      <p:sp>
        <p:nvSpPr>
          <p:cNvPr id="303" name="Google Shape;303;p23"/>
          <p:cNvSpPr txBox="1"/>
          <p:nvPr/>
        </p:nvSpPr>
        <p:spPr>
          <a:xfrm>
            <a:off x="3590925" y="4384350"/>
            <a:ext cx="6669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1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284C7"/>
                </a:solidFill>
                <a:latin typeface="Vazirmatn"/>
                <a:ea typeface="Vazirmatn"/>
                <a:cs typeface="Vazirmatn"/>
                <a:sym typeface="Vazirmatn"/>
              </a:rPr>
              <a:t>۳</a:t>
            </a:r>
            <a:endParaRPr/>
          </a:p>
        </p:txBody>
      </p:sp>
      <p:sp>
        <p:nvSpPr>
          <p:cNvPr id="304" name="Google Shape;304;p23"/>
          <p:cNvSpPr txBox="1"/>
          <p:nvPr/>
        </p:nvSpPr>
        <p:spPr>
          <a:xfrm>
            <a:off x="514350" y="4286250"/>
            <a:ext cx="3067200" cy="63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1E293B"/>
                </a:solidFill>
                <a:latin typeface="Vazirmatn"/>
                <a:ea typeface="Vazirmatn"/>
                <a:cs typeface="Vazirmatn"/>
                <a:sym typeface="Vazirmatn"/>
              </a:rPr>
              <a:t>استفاده از عامل‌های تعاملی با قابلیت پرس‌وجو (Query tool).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A440">
            <a:alpha val="10220"/>
          </a:srgbClr>
        </a:solidFill>
      </p:bgPr>
    </p:bg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24"/>
          <p:cNvSpPr/>
          <p:nvPr/>
        </p:nvSpPr>
        <p:spPr>
          <a:xfrm>
            <a:off x="5791200" y="3929062"/>
            <a:ext cx="609600" cy="381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310" name="Google Shape;310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91212" y="2109787"/>
            <a:ext cx="409575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311" name="Google Shape;311;p24"/>
          <p:cNvSpPr txBox="1"/>
          <p:nvPr/>
        </p:nvSpPr>
        <p:spPr>
          <a:xfrm>
            <a:off x="3314402" y="2871787"/>
            <a:ext cx="55632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200" u="none" cap="none" strike="noStrike">
                <a:solidFill>
                  <a:schemeClr val="dk1"/>
                </a:solidFill>
                <a:latin typeface="Vazirmatn"/>
                <a:ea typeface="Vazirmatn"/>
                <a:cs typeface="Vazirmatn"/>
                <a:sym typeface="Vazirmatn"/>
              </a:rPr>
              <a:t>با تشکر از توجه شما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312" name="Google Shape;312;p24"/>
          <p:cNvSpPr txBox="1"/>
          <p:nvPr/>
        </p:nvSpPr>
        <p:spPr>
          <a:xfrm>
            <a:off x="5006578" y="4271962"/>
            <a:ext cx="21789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666666"/>
                </a:solidFill>
                <a:latin typeface="Vazirmatn"/>
                <a:ea typeface="Vazirmatn"/>
                <a:cs typeface="Vazirmatn"/>
                <a:sym typeface="Vazirmatn"/>
              </a:rPr>
              <a:t>پرسش و پاسخ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CF1E5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