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دقت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A · ایستا</c:v>
                </c:pt>
                <c:pt idx="1">
                  <c:v>B · عامل</c:v>
                </c:pt>
                <c:pt idx="2">
                  <c:v>C · ایستا+عامل</c:v>
                </c:pt>
                <c:pt idx="3">
                  <c:v>D · +ساختار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0.3793103448275862</c:v>
                </c:pt>
                <c:pt idx="1">
                  <c:v>0.3697478991596639</c:v>
                </c:pt>
                <c:pt idx="2">
                  <c:v>0.6</c:v>
                </c:pt>
                <c:pt idx="3">
                  <c:v>0.45454545454545453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یادآوری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A · ایستا</c:v>
                </c:pt>
                <c:pt idx="1">
                  <c:v>B · عامل</c:v>
                </c:pt>
                <c:pt idx="2">
                  <c:v>C · ایستا+عامل</c:v>
                </c:pt>
                <c:pt idx="3">
                  <c:v>D · +ساختار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0.03666666666666667</c:v>
                </c:pt>
                <c:pt idx="1">
                  <c:v>0.14666666666666667</c:v>
                </c:pt>
                <c:pt idx="2">
                  <c:v>0.01</c:v>
                </c:pt>
                <c:pt idx="3">
                  <c:v>0.016666666666666666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نرخ هشدار سالم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A · ایستا</c:v>
                </c:pt>
                <c:pt idx="1">
                  <c:v>B · عامل</c:v>
                </c:pt>
                <c:pt idx="2">
                  <c:v>C · ایستا+عامل</c:v>
                </c:pt>
                <c:pt idx="3">
                  <c:v>D · +ساختار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0.05</c:v>
                </c:pt>
                <c:pt idx="1">
                  <c:v>0.19666666666666666</c:v>
                </c:pt>
                <c:pt idx="2">
                  <c:v>0.006666666666666667</c:v>
                </c:pt>
                <c:pt idx="3">
                  <c:v>0.02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>
                  <a:latin typeface="Tahom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ahom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ahoma"/>
              </a:defRPr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300">
          <a:latin typeface="Tahoma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تأیید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C · بدون ساختار</c:v>
                </c:pt>
                <c:pt idx="1">
                  <c:v>D · با ساختار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رد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C · بدون ساختار</c:v>
                </c:pt>
                <c:pt idx="1">
                  <c:v>D · با ساختار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</c:v>
                </c:pt>
                <c:pt idx="1">
                  <c:v>14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عدم قطعیت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C · بدون ساختار</c:v>
                </c:pt>
                <c:pt idx="1">
                  <c:v>D · با ساختار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</c:v>
                </c:pt>
                <c:pt idx="1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latin typeface="Tahom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ahom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ahoma"/>
              </a:defRPr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300">
          <a:latin typeface="Tahom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معرفی خود و طرح کلی کار در یک دقیقه.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نقشهٔ راه ارائه؛ حدود ۱۵ دقیقه.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تعریف هشدار نادرست و هزینهٔ واقعی آن برای تیم توسعه. عدد پایین یادآوری را اینجا معرفی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موضع پژوهش: عامل زبانی داور است، نه ابزار کشف.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چهار پرسشی که کل فصل چهارم پاسخ می‌دهد.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برای هر فاز حدود یک دقیقه؛ روی جریان داده تأکید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نکتهٔ کلیدی: یادآوری پایینِ تحلیل ایستا نقص سامانه نیست، ویژگی ابزار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ادغام، هزینهٔ داوری را کم می‌کند و نمایندهٔ گروه را تعیین می‌کند.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عدم قطعیت یک قابلیت است، نه ضعف: عامل وانمود نمی‌کند که شاهد دارد.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این اسلاید اعتبار نتایج را توضیح می‌دهد؛ اگر پرسشی دربارهٔ نشت برچسب آمد، به همین اسلاید برگردید.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تأکید کنید که مقایسه روی جمعیت یکسان انجام شده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پیام اصلی: کاهش چشمگیر هشدار نادرست، اما نه بدون هزینه.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این جدول مبنای محاسبهٔ معیارهای اسلاید قبل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پاسخ پرسش سوم: بله، شواهد ساختاری تصمیم‌گیری را بهبود می‌دهد، اما آستانهٔ اطمینان را جابه‌جا می‌کند.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این مهم‌ترین یافتهٔ تفصیلی کار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پاسخ به اعتراض احتمالی دربارهٔ اندازهٔ نمونه.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این اسلاید، خلاصهٔ کل ارائه است؛ روی آن مکث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محدودیت‌ها را صادقانه بیان کنید؛ این نشانهٔ تسلط بر کار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مسیر روشن و مبتنی بر یافته‌ها.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جملهٔ پایانی پیش از اسلاید تشکر.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فضای باقی‌مانده برای پرسش‌های هیئت‌مجازه.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3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Tahoma"/>
              </a:rPr>
              <a:t>کاهش هشدارهای نادرست ابزارهای تحلیل ایستا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651760"/>
            <a:ext cx="110578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35000"/>
              </a:lnSpc>
              <a:spcAft>
                <a:spcPts val="600"/>
              </a:spcAft>
            </a:pPr>
            <a:r>
              <a:rPr sz="2200" b="0">
                <a:solidFill>
                  <a:srgbClr val="E3EFF6"/>
                </a:solidFill>
                <a:latin typeface="Tahoma"/>
              </a:rPr>
              <a:t>به کمک بازبینی مبتنی بر شواهد با عامل زبانی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10578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6B7484"/>
                </a:solidFill>
                <a:latin typeface="Tahoma"/>
              </a:rPr>
              <a:t>دانشکده مهندسی کامپیوتر، دانشگاه تهران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34840"/>
            <a:ext cx="110578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B263B"/>
                </a:solidFill>
                <a:latin typeface="Tahoma"/>
              </a:rPr>
              <a:t>نگارنده: امیرحسین قدیری        استاد راهنما: دکتر مهران سلیمان فالح        تابستان ۱۴۰۴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سرفصل‌های ارائه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900">
                <a:solidFill>
                  <a:srgbClr val="1B263B"/>
                </a:solidFill>
                <a:latin typeface="Tahoma"/>
              </a:rPr>
              <a:t>•  مسئله: هشدار نادرست در تحلیل ایستا و هزینهٔ آن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900">
                <a:solidFill>
                  <a:srgbClr val="1B263B"/>
                </a:solidFill>
                <a:latin typeface="Tahoma"/>
              </a:rPr>
              <a:t>•  پرسش‌های پژوهش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900">
                <a:solidFill>
                  <a:srgbClr val="1B263B"/>
                </a:solidFill>
                <a:latin typeface="Tahoma"/>
              </a:rPr>
              <a:t>•  معماری سه‌فاز سامانهٔ پیشنهادی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900">
                <a:solidFill>
                  <a:srgbClr val="1B263B"/>
                </a:solidFill>
                <a:latin typeface="Tahoma"/>
              </a:rPr>
              <a:t>•  طراحی ارزیابی و مجموعه‌داده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900">
                <a:solidFill>
                  <a:srgbClr val="1B263B"/>
                </a:solidFill>
                <a:latin typeface="Tahoma"/>
              </a:rPr>
              <a:t>•  نتایج و پاسخ به پرسش‌ها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900">
                <a:solidFill>
                  <a:srgbClr val="1B263B"/>
                </a:solidFill>
                <a:latin typeface="Tahoma"/>
              </a:rPr>
              <a:t>•  محدودیت‌ها و کارهای آینده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مسئله: هشدار نادرست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9264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400">
                <a:solidFill>
                  <a:srgbClr val="6B7484"/>
                </a:solidFill>
                <a:latin typeface="Tahoma"/>
              </a:rPr>
              <a:t>چرا ابزارهای تحلیل ایستا را کنار می‌گذاریم؟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0876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هر ابزار تحلیل ایستا میان سه دسته باید تمایز بگذارد: هشدار درست، هشدار نادرست و از دست رفتن آسیب‌پذیری.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هشدار نادرست یعنی ابزار محلی را معرفی کرده که در واقع ایرادی ندارد یا مسیر آن هرگز اجرا نمی‌شود.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خروجی بسیار زیاد هشدار نادرست، اعتماد توسعه‌دهنده را از بین می‌برد و در نهایت ابزار کنار گذاشته می‌شود.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راه‌حل باید توان کشف را حفظ کند، نه این‌که صرفاً هشدارها را حذف کند.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94960"/>
            <a:ext cx="11055096" cy="77724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1B263B"/>
                </a:solidFill>
                <a:latin typeface="Tahoma"/>
              </a:rPr>
              <a:t>خط پایهٔ ما: نرخ هشدار روی فایل سالم ۵٫۰٪ و تنها ۳٫۷٪ یادآوری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چرا عامل زبانی؟ و چرا به‌تنهایی نه؟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00200"/>
            <a:ext cx="5349240" cy="137160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700" b="1">
                <a:solidFill>
                  <a:srgbClr val="1B263B"/>
                </a:solidFill>
                <a:latin typeface="Tahoma"/>
              </a:rPr>
              <a:t>عامل زبانی
درک معنایی از کد و زمینهٔ اجرا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2784" y="1600200"/>
            <a:ext cx="5349240" cy="1371600"/>
          </a:xfrm>
          <a:prstGeom prst="roundRect">
            <a:avLst/>
          </a:prstGeom>
          <a:solidFill>
            <a:srgbClr val="FAECE3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700" b="1">
                <a:solidFill>
                  <a:srgbClr val="1B263B"/>
                </a:solidFill>
                <a:latin typeface="Tahoma"/>
              </a:rPr>
              <a:t>اما به‌تنهایی قابل اتکا نیست
احتمال توهم، نشت برچسب و ناپایداری داوری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4612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قواعد صرفاً نحوی، معنای داده را نمی‌بینند؛ تحلیل جریان داده گران است و همچنان ناقص.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مدل زبانی می‌تواند بپرسد آیا مسیر داده واقعاً قابل دسترس است و آیا نام تابع فراخوان با الگوی خطرناک هم‌خوان است.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راه‌حل: نه جایگزینی ابزار، بلکه داوری مبتنی بر شواهدِ همان ابزارها.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پرسش‌های پژوهش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1508760"/>
            <a:ext cx="1920240" cy="777240"/>
          </a:xfrm>
          <a:prstGeom prst="roundRect">
            <a:avLst/>
          </a:prstGeom>
          <a:solidFill>
            <a:srgbClr val="0F628B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Tahoma"/>
              </a:rPr>
              <a:t>پرسش 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8961120" cy="77724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0">
                <a:solidFill>
                  <a:srgbClr val="1B263B"/>
                </a:solidFill>
                <a:latin typeface="Tahoma"/>
              </a:rPr>
              <a:t>آیا بازبینی مبتنی بر شواهد، هشدارهای نادرست تحلیل ایستا را کاهش می‌دهد؟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2624328"/>
            <a:ext cx="1920240" cy="777240"/>
          </a:xfrm>
          <a:prstGeom prst="roundRect">
            <a:avLst/>
          </a:prstGeom>
          <a:solidFill>
            <a:srgbClr val="0F628B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Tahoma"/>
              </a:rPr>
              <a:t>پرسش 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624328"/>
            <a:ext cx="8961120" cy="77724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0">
                <a:solidFill>
                  <a:srgbClr val="1B263B"/>
                </a:solidFill>
                <a:latin typeface="Tahoma"/>
              </a:rPr>
              <a:t>بهای این کاهش از نظر یادآوری چقدر است؟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0" y="3739896"/>
            <a:ext cx="1920240" cy="777240"/>
          </a:xfrm>
          <a:prstGeom prst="roundRect">
            <a:avLst/>
          </a:prstGeom>
          <a:solidFill>
            <a:srgbClr val="0F628B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Tahoma"/>
              </a:rPr>
              <a:t>پرسش 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739896"/>
            <a:ext cx="8961120" cy="77724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0">
                <a:solidFill>
                  <a:srgbClr val="1B263B"/>
                </a:solidFill>
                <a:latin typeface="Tahoma"/>
              </a:rPr>
              <a:t>افزودن شواهد ساختاری، اثر بازبینی را بهبود می‌دهد؟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4855464"/>
            <a:ext cx="1920240" cy="777240"/>
          </a:xfrm>
          <a:prstGeom prst="roundRect">
            <a:avLst/>
          </a:prstGeom>
          <a:solidFill>
            <a:srgbClr val="0F628B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Tahoma"/>
              </a:rPr>
              <a:t>پرسش 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855464"/>
            <a:ext cx="8961120" cy="77724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0">
                <a:solidFill>
                  <a:srgbClr val="1B263B"/>
                </a:solidFill>
                <a:latin typeface="Tahoma"/>
              </a:rPr>
              <a:t>هر یک از سه مؤلفه به‌تنهایی و در ترکیب با یکدیگر چه تصویری از منحنی مبادلهٔ دقت و یادآوری می‌دهند؟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معماری سامانه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9264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400">
                <a:solidFill>
                  <a:srgbClr val="6B7484"/>
                </a:solidFill>
                <a:latin typeface="Tahoma"/>
              </a:rPr>
              <a:t>سه فاز، از فایل خام تا گزارش نهایی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37360"/>
            <a:ext cx="3291840" cy="548640"/>
          </a:xfrm>
          <a:prstGeom prst="roundRect">
            <a:avLst/>
          </a:prstGeom>
          <a:solidFill>
            <a:srgbClr val="0F628B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FFFFFF"/>
                </a:solidFill>
                <a:latin typeface="Tahoma"/>
              </a:rPr>
              <a:t>فاز 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31720"/>
            <a:ext cx="3291840" cy="68580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1B263B"/>
                </a:solidFill>
                <a:latin typeface="Tahoma"/>
              </a:rPr>
              <a:t>تحلیل ایستا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63240"/>
            <a:ext cx="3291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0">
                <a:solidFill>
                  <a:srgbClr val="1B263B"/>
                </a:solidFill>
                <a:latin typeface="Tahoma"/>
              </a:rPr>
              <a:t>cppcheck · Flawfinder
Clang Static Analyzer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3984" y="1737360"/>
            <a:ext cx="3291840" cy="548640"/>
          </a:xfrm>
          <a:prstGeom prst="roundRect">
            <a:avLst/>
          </a:prstGeom>
          <a:solidFill>
            <a:srgbClr val="0F628B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FFFFFF"/>
                </a:solidFill>
                <a:latin typeface="Tahoma"/>
              </a:rPr>
              <a:t>فاز 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3984" y="2331720"/>
            <a:ext cx="3291840" cy="68580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1B263B"/>
                </a:solidFill>
                <a:latin typeface="Tahoma"/>
              </a:rPr>
              <a:t>ادغام و همبسته‌سازی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3984" y="3063240"/>
            <a:ext cx="3291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0">
                <a:solidFill>
                  <a:srgbClr val="1B263B"/>
                </a:solidFill>
                <a:latin typeface="Tahoma"/>
              </a:rPr>
              <a:t>اثر انگشت یافته + تطبیق خط
تبدیل به گروه‌های بازبینی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737360"/>
            <a:ext cx="3291840" cy="548640"/>
          </a:xfrm>
          <a:prstGeom prst="roundRect">
            <a:avLst/>
          </a:prstGeom>
          <a:solidFill>
            <a:srgbClr val="0F628B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FFFFFF"/>
                </a:solidFill>
                <a:latin typeface="Tahoma"/>
              </a:rPr>
              <a:t>فاز 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331720"/>
            <a:ext cx="3291840" cy="68580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1B263B"/>
                </a:solidFill>
                <a:latin typeface="Tahoma"/>
              </a:rPr>
              <a:t>بازبینی مبتنی بر شواهد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63240"/>
            <a:ext cx="3291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0">
                <a:solidFill>
                  <a:srgbClr val="1B263B"/>
                </a:solidFill>
                <a:latin typeface="Tahoma"/>
              </a:rPr>
              <a:t>بستهٔ شواهد ساخت‌یافته
تصمیم: تأیید / رد / عدم قطعیت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3931920" y="2514600"/>
            <a:ext cx="457200" cy="310896"/>
          </a:xfrm>
          <a:prstGeom prst="leftArrow">
            <a:avLst/>
          </a:prstGeom>
          <a:solidFill>
            <a:srgbClr val="6B7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7818120" y="2514600"/>
            <a:ext cx="457200" cy="310896"/>
          </a:xfrm>
          <a:prstGeom prst="leftArrow">
            <a:avLst/>
          </a:prstGeom>
          <a:solidFill>
            <a:srgbClr val="6B7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61772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خروجی نهایی: تنها یافته‌های تأییدشده، همراه با دلیل و شواهد — نه فهرست طولانی هشدارها.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فاز ۱: تحلیل ایستا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9264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400">
                <a:solidFill>
                  <a:srgbClr val="6B7484"/>
                </a:solidFill>
                <a:latin typeface="Tahoma"/>
              </a:rPr>
              <a:t>خط پایهٔ سامانه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سه ابزار مستقل به‌صورت موازی روی هر فایل اجرا می‌شوند؛ انتخاب ابزارها پوشش‌های مکمل دارد: قواعد الگویی، تخصیص حافظه و تحلیل مسیر.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محدودیت ذاتی: این ابزارها با قواعد الگویی کار می‌کنند، پس تنها بخشی از سناریوها را فعال می‌کنند.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نتیجه روی ۶۰۰ نمونه: تنها ۳۱ یافتهٔ خام از ۲۹ فایل — یادآوری ۳٫۷٪.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همین محدودیت، سقف یادآوری سامانهٔ مبتنی بر تحلیل ایستا را تعیین می‌کند؛ سقفی که از توان داوری سامانه مستقل است.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فاز ۲: نرمال‌سازی و همبسته‌سازی یافته‌ها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ادغام یافته‌های تکراری با اثر انگشت و تطبیق خط: سه ابزار یک ایراد را گاهی با سه زبان متفاوت گزارش می‌کنند.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هر گروه، یک نقطهٔ ضعف واحد را نمایندگی می‌کند و نمایندهٔ گروه می‌شود.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گروه‌هایی که شواهد کافی ندارند، بدون هزینهٔ داوری کنار گذاشته می‌شوند.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نتیجه: به‌جای ده‌ها هشدار پراکنده، چند گروه قابل بازبینی.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257800"/>
            <a:ext cx="11055096" cy="77724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1B263B"/>
                </a:solidFill>
                <a:latin typeface="Tahoma"/>
              </a:rPr>
              <a:t>۳۱ یافتهٔ خام  ⟵  ۳۱ گروه بازبینی  ⟵  داوری یک‌بارهٔ هر گروه توسط عامل زبانی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فاز ۳: بازبینی مبتنی بر شواهد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9264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400">
                <a:solidFill>
                  <a:srgbClr val="6B7484"/>
                </a:solidFill>
                <a:latin typeface="Tahoma"/>
              </a:rPr>
              <a:t>بستهٔ شواهد و سه تصمیم ممکن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بستهٔ شواهد ساخت‌یافته: قطعهٔ کد پیرامون محل هشدار، پیام ابزارها، و در پیکربندی D شواهد ساختاری از درخت نحوی.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سه خروجی ممکن: تأیید، رد، و عدم قطعیت — که صادقانه‌ترین حالت برای کمبود شاهد است.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خروجی نهایی: یافته‌های تأییدشده، همراه با دلیل و شواهد؛ یافته‌های نامطمئن در بخش جداگانه.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3977639"/>
            <a:ext cx="3520440" cy="594360"/>
          </a:xfrm>
          <a:prstGeom prst="roundRect">
            <a:avLst/>
          </a:prstGeom>
          <a:solidFill>
            <a:srgbClr val="1B7F5A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FFFFFF"/>
                </a:solidFill>
                <a:latin typeface="Tahoma"/>
              </a:rPr>
              <a:t>تأیید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617720"/>
            <a:ext cx="35204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0">
                <a:solidFill>
                  <a:srgbClr val="1B263B"/>
                </a:solidFill>
                <a:latin typeface="Tahoma"/>
              </a:rPr>
              <a:t>شاهد کافی برای وجود ایراد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977639"/>
            <a:ext cx="3520440" cy="594360"/>
          </a:xfrm>
          <a:prstGeom prst="roundRect">
            <a:avLst/>
          </a:prstGeom>
          <a:solidFill>
            <a:srgbClr val="6B7484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FFFFFF"/>
                </a:solidFill>
                <a:latin typeface="Tahoma"/>
              </a:rPr>
              <a:t>رد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617720"/>
            <a:ext cx="35204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0">
                <a:solidFill>
                  <a:srgbClr val="1B263B"/>
                </a:solidFill>
                <a:latin typeface="Tahoma"/>
              </a:rPr>
              <a:t>شاهد کافی برای بی‌خطر بودن مسیر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7" y="3977639"/>
            <a:ext cx="3520440" cy="594360"/>
          </a:xfrm>
          <a:prstGeom prst="roundRect">
            <a:avLst/>
          </a:prstGeom>
          <a:solidFill>
            <a:srgbClr val="B4541E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FFFFFF"/>
                </a:solidFill>
                <a:latin typeface="Tahoma"/>
              </a:rPr>
              <a:t>عدم قطعیت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4617720"/>
            <a:ext cx="35204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0">
                <a:solidFill>
                  <a:srgbClr val="1B263B"/>
                </a:solidFill>
                <a:latin typeface="Tahoma"/>
              </a:rPr>
              <a:t>شاهد ناکافی؛ نیازمند بررسی انسانی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جلوگیری از نشت برچسب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9264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400">
                <a:solidFill>
                  <a:srgbClr val="6B7484"/>
                </a:solidFill>
                <a:latin typeface="Tahoma"/>
              </a:rPr>
              <a:t>چالش اعتبار ارزیابی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در مجموعه‌دادهٔ جولیت، برچسب در نام فایل و نام توابع وجود دارد؛ متنی مثل badSink یا 73b_bad.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اگر این نشانه‌ها به مدل داده شود، کیفیت بازبینی به‌طور مصنوعی بالا می‌رود و نتیجه بی‌معنا می‌شود.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راه‌حل: ماژول پاک‌سازی کد که پیش از هر بازبینی اجرا می‌شود.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3977639"/>
            <a:ext cx="11055096" cy="86868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1B263B"/>
                </a:solidFill>
                <a:latin typeface="Tahoma"/>
              </a:rPr>
              <a:t>پاک‌سازی: حذف حاشیه‌نویسی‌ها · بازنام‌گذاری شناسه‌های افشاگر · حذف برچسب از نام فایل — بدون تغییر شمارهٔ خط گزارش ابزارها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074920"/>
            <a:ext cx="11055096" cy="822960"/>
          </a:xfrm>
          <a:prstGeom prst="roundRect">
            <a:avLst/>
          </a:prstGeom>
          <a:solidFill>
            <a:srgbClr val="FAECE3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0">
                <a:solidFill>
                  <a:srgbClr val="1B263B"/>
                </a:solidFill>
                <a:latin typeface="Tahoma"/>
              </a:rPr>
              <a:t>حفظ شمارهٔ خط، شرط لازم تطبیق یافته‌ها با برچسب واقعی است؛ پس این محدودیت از خودِ طراحی سامانه می‌آید، نه از ضعف روش.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طراحی ارزیابی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9264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400">
                <a:solidFill>
                  <a:srgbClr val="6B7484"/>
                </a:solidFill>
                <a:latin typeface="Tahoma"/>
              </a:rPr>
              <a:t>یک جمعیت یکسان برای هر چهار پیکربندی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08760"/>
            <a:ext cx="11057839" cy="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زیرمجموعهٔ لایه‌بندی‌شده از جولیت با بذر ثابت: ۶۰۰ فایل = ۳۰۰ آسیب‌پذیر و ۳۰۰ سالم، در دو نوع سرریز بافر و سرریز عدد صحیح.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از هر لایه (نوع آسیب‌پذیری × برچسب) دقیقاً ۱۵۰ نمونه.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چهار پیکربندی، یک متغیر در هر بار: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520440"/>
          <a:ext cx="11055096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5032"/>
                <a:gridCol w="3685032"/>
                <a:gridCol w="3685032"/>
              </a:tblGrid>
              <a:tr h="438912"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1">
                          <a:solidFill>
                            <a:srgbClr val="FFFFFF"/>
                          </a:solidFill>
                          <a:latin typeface="Tahoma"/>
                        </a:rPr>
                        <a:t>پیکربندی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1">
                          <a:solidFill>
                            <a:srgbClr val="FFFFFF"/>
                          </a:solidFill>
                          <a:latin typeface="Tahoma"/>
                        </a:rPr>
                        <a:t>مؤلفه‌ها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1">
                          <a:solidFill>
                            <a:srgbClr val="FFFFFF"/>
                          </a:solidFill>
                          <a:latin typeface="Tahoma"/>
                        </a:rPr>
                        <a:t>پرسشی که پاسخ می‌دهد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0">
                          <a:solidFill>
                            <a:srgbClr val="1B263B"/>
                          </a:solidFill>
                          <a:latin typeface="Tahoma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0">
                          <a:solidFill>
                            <a:srgbClr val="1B263B"/>
                          </a:solidFill>
                          <a:latin typeface="Tahoma"/>
                        </a:rPr>
                        <a:t>تحلیل ایستا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0">
                          <a:solidFill>
                            <a:srgbClr val="1B263B"/>
                          </a:solidFill>
                          <a:latin typeface="Tahoma"/>
                        </a:rPr>
                        <a:t>خط پایهٔ ابزارها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0">
                          <a:solidFill>
                            <a:srgbClr val="1B263B"/>
                          </a:solidFill>
                          <a:latin typeface="Tahoma"/>
                        </a:rPr>
                        <a:t>B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0">
                          <a:solidFill>
                            <a:srgbClr val="1B263B"/>
                          </a:solidFill>
                          <a:latin typeface="Tahoma"/>
                        </a:rPr>
                        <a:t>عامل زبانی تنها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0">
                          <a:solidFill>
                            <a:srgbClr val="1B263B"/>
                          </a:solidFill>
                          <a:latin typeface="Tahoma"/>
                        </a:rPr>
                        <a:t>توان عامل بدون کمک ابزار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0">
                          <a:solidFill>
                            <a:srgbClr val="1B263B"/>
                          </a:solidFill>
                          <a:latin typeface="Tahoma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0">
                          <a:solidFill>
                            <a:srgbClr val="1B263B"/>
                          </a:solidFill>
                          <a:latin typeface="Tahoma"/>
                        </a:rPr>
                        <a:t>ایستا + عامل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0">
                          <a:solidFill>
                            <a:srgbClr val="1B263B"/>
                          </a:solidFill>
                          <a:latin typeface="Tahoma"/>
                        </a:rPr>
                        <a:t>اثر بازبینی مبتنی بر شواهد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0">
                          <a:solidFill>
                            <a:srgbClr val="1B263B"/>
                          </a:solidFill>
                          <a:latin typeface="Tahoma"/>
                        </a:rPr>
                        <a:t>D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0">
                          <a:solidFill>
                            <a:srgbClr val="1B263B"/>
                          </a:solidFill>
                          <a:latin typeface="Tahoma"/>
                        </a:rPr>
                        <a:t>ایستا + ساختار + عامل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500" b="0">
                          <a:solidFill>
                            <a:srgbClr val="1B263B"/>
                          </a:solidFill>
                          <a:latin typeface="Tahoma"/>
                        </a:rPr>
                        <a:t>اثر افزودن شواهد ساختاری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نتایج اصلی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9264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400">
                <a:solidFill>
                  <a:srgbClr val="6B7484"/>
                </a:solidFill>
                <a:latin typeface="Tahoma"/>
              </a:rPr>
              <a:t>۶۰۰ نمونهٔ متعادل · دقت، یادآوری و نرخ هشدار روی فایل سالم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66928" y="1463040"/>
          <a:ext cx="11057839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5989320"/>
            <a:ext cx="11055096" cy="658368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1B263B"/>
                </a:solidFill>
                <a:latin typeface="Tahoma"/>
              </a:rPr>
              <a:t>C در برابر A: هشدار نادرست ۵٫۰٪ ⟵ ۰٫۷٪ (حدود ۸۷٪ کاهش)، اما یادآوری ۳٫۷٪ ⟵ ۱٫۰٪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ماتریس سردرگمی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9264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400">
                <a:solidFill>
                  <a:srgbClr val="6B7484"/>
                </a:solidFill>
                <a:latin typeface="Tahoma"/>
              </a:rPr>
              <a:t>دانه‌بندی یافته برای مثبت/منفی، دانه‌بندی فایل برای سالم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645920"/>
          <a:ext cx="1105509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019"/>
                <a:gridCol w="2211019"/>
                <a:gridCol w="2211019"/>
                <a:gridCol w="2211019"/>
                <a:gridCol w="2211020"/>
              </a:tblGrid>
              <a:tr h="475488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پیکربندی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مثبت درست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مثبت نادرست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منفی از دست رفته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منفی درست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A · تحلیل ایستا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۱۱٫۰۰۰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۱۸٫۰۰۰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۲۸۹٫۰۰۰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۲۸۵٫۰۰۰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B · عامل زبانی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۴۴٫۰۰۰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۷۵٫۰۰۰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۲۵۶٫۰۰۰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۲۴۱٫۰۰۰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C · ایستا + عامل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۳٫۰۰۰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۲٫۰۰۰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۲۹۷٫۰۰۰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۲۹۸٫۰۰۰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D · ایستا + ساختار + عامل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۵٫۰۰۰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۶٫۰۰۰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۲۹۵٫۰۰۰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۲۹۴٫۰۰۰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29768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600">
                <a:solidFill>
                  <a:srgbClr val="1B263B"/>
                </a:solidFill>
                <a:latin typeface="Tahoma"/>
              </a:rPr>
              <a:t>•  B با ۴۴٫۰۰۰ مثبت درست، چهار برابر A (۱۱٫۰۰۰) آسیب‌پذیری یافت؛ چیزهایی که ابزارهای ایستا از آن‌ها غافل‌اند.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600">
                <a:solidFill>
                  <a:srgbClr val="1B263B"/>
                </a:solidFill>
                <a:latin typeface="Tahoma"/>
              </a:rPr>
              <a:t>•  اما ۷۵٫۰۰۰ مثبت نادرست، یعنی نرخ هشدار روی فایل سالم ۱۹٫۷٪.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اثر شواهد ساختاری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9264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400">
                <a:solidFill>
                  <a:srgbClr val="6B7484"/>
                </a:solidFill>
                <a:latin typeface="Tahoma"/>
              </a:rPr>
              <a:t>چرا تصمیم‌های عامل تغییر کرد؟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66928" y="1463040"/>
          <a:ext cx="11057839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57839" cy="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500">
                <a:solidFill>
                  <a:srgbClr val="1B263B"/>
                </a:solidFill>
                <a:latin typeface="Tahoma"/>
              </a:rPr>
              <a:t>•  با افزودن شواهد ساختاری، تأییدها بیش از دو برابر و خروجی‌های نامطمئن نصف شدند.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500">
                <a:solidFill>
                  <a:srgbClr val="1B263B"/>
                </a:solidFill>
                <a:latin typeface="Tahoma"/>
              </a:rPr>
              <a:t>•  یادآوری از ۱٫۰٪ به ۱٫۷٪ رسید؛ بهای آن، رشد مثبت نادرست از ۲٫۰۰۰ به ۶٫۰۰۰ بود.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500">
                <a:solidFill>
                  <a:srgbClr val="1B263B"/>
                </a:solidFill>
                <a:latin typeface="Tahoma"/>
              </a:rPr>
              <a:t>•  شواهد بیشتر، عامل را مطمئن‌تر می‌کند و اطمینان بیشتر، هم یافتهٔ درست و هم یافتهٔ نادرست بیشتری تولید می‌کند.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نتایج به تفکیک نوع آسیب‌پذیری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9264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400">
                <a:solidFill>
                  <a:srgbClr val="6B7484"/>
                </a:solidFill>
                <a:latin typeface="Tahoma"/>
              </a:rPr>
              <a:t>سرریز بافر (CWE-122) در برابر سرریز عدد صحیح (CWE-190)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645920"/>
          <a:ext cx="1105509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019"/>
                <a:gridCol w="2211019"/>
                <a:gridCol w="2211019"/>
                <a:gridCol w="2211019"/>
                <a:gridCol w="2211020"/>
              </a:tblGrid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پیکربندی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۱۲۲ دقت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۱۲۲ یادآوری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۱۹۰ دقت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۱۹۰ یادآوری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A · تحلیل ایستا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۰٫۵۵۰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۰٫۰۷۳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۰٫۰۰۰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۰٫۰۰۰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B · عامل زبانی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۰٫۵۱۵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۰٫۲۳۳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۰٫۳۳۳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۰٫۰۶۰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C · ایستا + عامل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۰٫۶۰۰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۰٫۰۲۰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۰٫۰۰۰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۰٫۰۰۰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D · ایستا + ساختار + عامل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۰٫۴۵۵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۰٫۰۳۳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۰٫۰۰۰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>
                          <a:solidFill>
                            <a:srgbClr val="1B263B"/>
                          </a:solidFill>
                          <a:latin typeface="Tahoma"/>
                        </a:rPr>
                        <a:t>۰٫۰۰۰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20624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500">
                <a:solidFill>
                  <a:srgbClr val="1B263B"/>
                </a:solidFill>
                <a:latin typeface="Tahoma"/>
              </a:rPr>
              <a:t>•  هیچ پیکربندی مبتنی بر تحلیل ایستا، حتی یک نمونه از ۱۵۰ نمونهٔ سرریز عدد صحیح را کشف نکرد: یادآوری صفر.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500">
                <a:solidFill>
                  <a:srgbClr val="1B263B"/>
                </a:solidFill>
                <a:latin typeface="Tahoma"/>
              </a:rPr>
              <a:t>•  تنها پیکربندی B توانست در این نوع کشف کند: یادآوری ۶٫۰٪ با دقت ۳۳٫۳٪.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500">
                <a:solidFill>
                  <a:srgbClr val="1B263B"/>
                </a:solidFill>
                <a:latin typeface="Tahoma"/>
              </a:rPr>
              <a:t>•  علت، ماهیت دو نوع آسیب‌پذیری است: سرریز بافر الگوی شناخته‌شده‌ای دارد، اما سرریز عدد صحیح شکست بنیادی در مدل نوع را آشکار می‌کند.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بررسی در مقیاس کامل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9264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400">
                <a:solidFill>
                  <a:srgbClr val="6B7484"/>
                </a:solidFill>
                <a:latin typeface="Tahoma"/>
              </a:rPr>
              <a:t>آیا نتیجه وابسته به اندازهٔ نمونه است؟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3736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پیکربندی A علاوه بر زیرمجموعهٔ ۶۰۰ نمونه‌ای، روی کل ۴۰۹۸ فایل مجموعه‌داده اجرا شد.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نتیجه با مقدار زیرمجموعه هم‌خوان بود: دقت ۰٫۴۱۲، یادآوری ۰٫۰۴۶ و نرخ هشدار سالم ۰٫۰۵۱.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800">
                <a:solidFill>
                  <a:srgbClr val="1B263B"/>
                </a:solidFill>
                <a:latin typeface="Tahoma"/>
              </a:rPr>
              <a:t>•  بنابراین محدودیت یادآوری تحلیل ایستا، ویژگی ابزار و مجموعه‌داده است، نه اثر تصادفی نمونه‌گیری.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480560"/>
            <a:ext cx="11055096" cy="73152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1B263B"/>
                </a:solidFill>
                <a:latin typeface="Tahoma"/>
              </a:rPr>
              <a:t>دامنهٔ ارزیابی: A روی ۴۰۹۸ فایل، و A تا D روی ۶۰۰ فایل لایه‌بندی‌شده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پاسخ به پرسش‌های پژوهش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00200"/>
          <a:ext cx="11055096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5032"/>
                <a:gridCol w="3685032"/>
                <a:gridCol w="3685032"/>
              </a:tblGrid>
              <a:tr h="731520"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/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پاسخ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شاهد عددی</a:t>
                      </a:r>
                    </a:p>
                  </a:txBody>
                  <a:tcPr>
                    <a:solidFill>
                      <a:srgbClr val="0F628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0">
                          <a:solidFill>
                            <a:srgbClr val="1B263B"/>
                          </a:solidFill>
                          <a:latin typeface="Tahoma"/>
                        </a:rPr>
                        <a:t>پرسش 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0">
                          <a:solidFill>
                            <a:srgbClr val="1B263B"/>
                          </a:solidFill>
                          <a:latin typeface="Tahoma"/>
                        </a:rPr>
                        <a:t>بله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0">
                          <a:solidFill>
                            <a:srgbClr val="1B263B"/>
                          </a:solidFill>
                          <a:latin typeface="Tahoma"/>
                        </a:rPr>
                        <a:t>نرخ هشدار سالم ۵٫۰٪ ⟵ ۰٫۷٪؛ حدود ۸۷٪ کاهش و دقت ۰٫۳۷۹ ⟵ ۰٫۶۰۰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0">
                          <a:solidFill>
                            <a:srgbClr val="1B263B"/>
                          </a:solidFill>
                          <a:latin typeface="Tahoma"/>
                        </a:rPr>
                        <a:t>پرسش ۲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0">
                          <a:solidFill>
                            <a:srgbClr val="1B263B"/>
                          </a:solidFill>
                          <a:latin typeface="Tahoma"/>
                        </a:rPr>
                        <a:t>قابل توجه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0">
                          <a:solidFill>
                            <a:srgbClr val="1B263B"/>
                          </a:solidFill>
                          <a:latin typeface="Tahoma"/>
                        </a:rPr>
                        <a:t>یادآوری از ۳٫۷٪ به ۱٫۰٪؛ از ۱۱٫۰۰۰ مثبت درست، تنها ۳٫۰۰۰ مورد باقی ماند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0">
                          <a:solidFill>
                            <a:srgbClr val="1B263B"/>
                          </a:solidFill>
                          <a:latin typeface="Tahoma"/>
                        </a:rPr>
                        <a:t>پرسش 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0">
                          <a:solidFill>
                            <a:srgbClr val="1B263B"/>
                          </a:solidFill>
                          <a:latin typeface="Tahoma"/>
                        </a:rPr>
                        <a:t>بله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0">
                          <a:solidFill>
                            <a:srgbClr val="1B263B"/>
                          </a:solidFill>
                          <a:latin typeface="Tahoma"/>
                        </a:rPr>
                        <a:t>تأییدها ۵ ⟵ ۱۱ و یادآوری ۱٫۰٪ ⟵ ۱٫۷٪، به بهای رشد مثبت نادرست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0">
                          <a:solidFill>
                            <a:srgbClr val="1B263B"/>
                          </a:solidFill>
                          <a:latin typeface="Tahoma"/>
                        </a:rPr>
                        <a:t>پرسش ۴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0">
                          <a:solidFill>
                            <a:srgbClr val="1B263B"/>
                          </a:solidFill>
                          <a:latin typeface="Tahoma"/>
                        </a:rPr>
                        <a:t>نقطهٔ کاری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400" b="0">
                          <a:solidFill>
                            <a:srgbClr val="1B263B"/>
                          </a:solidFill>
                          <a:latin typeface="Tahoma"/>
                        </a:rPr>
                        <a:t>هیچ پیکربندی برتری مطلق ندارد؛ هر یک نقطهٔ متفاوتی از منحنی مبادلهٔ دقت و یادآوری است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محدودیت‌ها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اندازهٔ نمونه: تعداد یافته‌های درست در پیکربندی‌های ترکیبی کوچک است (۳ تا ۵)، پس نرخ‌ها حساس‌اند.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مجموعه‌داده: کد جولیت قالب‌محور و کوتاه است؛ بازبینی روی کد واقعی و بزرگ سخت‌تر خواهد بود.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مدل: ارزیابی تنها روی یک مدل زبانی انجام شده و تعمیم نیازمند آزمایش تکمیلی است.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سیاست تطبیق: چون برچسب خط در مجموعه‌داده ثبت نشده، تطبیق بر پایهٔ فایل و خانوادهٔ CWE است و تا حدی سخاوتمندانه.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394960"/>
            <a:ext cx="11055096" cy="68580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1B263B"/>
                </a:solidFill>
                <a:latin typeface="Tahoma"/>
              </a:rPr>
              <a:t>این محدودیت‌ها جهت‌گیری کارهای آینده را مشخص می‌کنند.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کارهای آینده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بستهٔ شواهد به‌جای قطعهٔ ثابت کد، مسیر دادهٔ میان منبع و نقطهٔ خطر را بدهد؛ گلوگاه اصلی همین است.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استفاده از خروجی نامطمئن به‌جای دور انداختن آن: ۴۲٪ گروه‌ها در C نامطمئن بودند و این یعنی سیگنال از دست‌رفته.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تنظیم نقطهٔ کاری بر پایهٔ هزینهٔ نسبی خطا، با آستانهٔ متفاوت برای تأیید.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ارزیابی روی مجموعه‌داده‌های دیگر و کد واقعی بلندتر با وابستگی بین‌فایلی.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توسعهٔ بازبینی تک‌مرحله‌ای به عامل چندمرحله‌ای با ابزار پرس‌وجو.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46304"/>
            <a:ext cx="110578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r"/>
            <a:r>
              <a:rPr sz="2700" b="1">
                <a:solidFill>
                  <a:srgbClr val="FFFFFF"/>
                </a:solidFill>
                <a:latin typeface="Tahoma"/>
              </a:rPr>
              <a:t>جمع‌بندی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45920"/>
            <a:ext cx="11055096" cy="1234440"/>
          </a:xfrm>
          <a:prstGeom prst="roundRect">
            <a:avLst/>
          </a:prstGeom>
          <a:solidFill>
            <a:srgbClr val="E3EFF6"/>
          </a:solidFill>
          <a:ln w="12700">
            <a:solidFill>
              <a:srgbClr val="0F62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1B263B"/>
                </a:solidFill>
                <a:latin typeface="Tahoma"/>
              </a:rPr>
              <a:t>بازبینی مبتنی بر شواهد، هشدارهای نادرست تحلیل ایستا را به‌طور چشمگیری کاهش می‌دهد، اما این کاهش رایگان نیست؛ افزودن شواهد ساختاری این مبادله را به نقطهٔ کاری متعادل‌تری می‌رساند.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200400"/>
            <a:ext cx="11057839" cy="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کاهش ۸۷٪ هشدار نادرست با دقت بالاتر (۰٫۶۰۰ در برابر ۰٫۳۷۹).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افزودن شواهد ساختاری: یادآوری ۱٫۰٪ ⟵ ۱٫۷٪ و تأییدها ۵ ⟵ ۱۱.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پوشش هیچ ابزار ایستایی به‌تنهایی کافی نیست: صفر یافته در سرریز عدد صحیح.</a:t>
            </a:r>
          </a:p>
          <a:p>
            <a:pPr rtl="1" algn="r">
              <a:lnSpc>
                <a:spcPct val="140000"/>
              </a:lnSpc>
              <a:spcAft>
                <a:spcPts val="1200"/>
              </a:spcAft>
            </a:pPr>
            <a:r>
              <a:rPr sz="1700">
                <a:solidFill>
                  <a:srgbClr val="1B263B"/>
                </a:solidFill>
                <a:latin typeface="Tahoma"/>
              </a:rPr>
              <a:t>•  خروجی سامانه، گزارشی است که برای هر یافته دلیل و شاهد می‌آورد؛ نه فهرست طولانی هشدارها.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110578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484"/>
                </a:solidFill>
                <a:latin typeface="Tahoma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0"/>
            <a:ext cx="110578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35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Tahoma"/>
              </a:rPr>
              <a:t>با تشکر از توجه شما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91840"/>
            <a:ext cx="110578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lnSpc>
                <a:spcPct val="135000"/>
              </a:lnSpc>
              <a:spcAft>
                <a:spcPts val="600"/>
              </a:spcAft>
            </a:pPr>
            <a:r>
              <a:rPr sz="2400" b="0">
                <a:solidFill>
                  <a:srgbClr val="E3EFF6"/>
                </a:solidFill>
                <a:latin typeface="Tahoma"/>
              </a:rPr>
              <a:t>پرسش و پاسخ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